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snapToObjects="1">
      <p:cViewPr>
        <p:scale>
          <a:sx n="89" d="100"/>
          <a:sy n="89" d="100"/>
        </p:scale>
        <p:origin x="360" y="-3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8248" y="116629"/>
            <a:ext cx="10972800" cy="502920"/>
          </a:xfrm>
          <a:prstGeom prst="rect">
            <a:avLst/>
          </a:prstGeom>
          <a:noFill/>
        </p:spPr>
        <p:txBody>
          <a:bodyPr wrap="none">
            <a:spAutoFit/>
          </a:bodyPr>
          <a:lstStyle/>
          <a:p>
            <a:pPr>
              <a:defRPr sz="2500" b="1">
                <a:solidFill>
                  <a:srgbClr val="16375E"/>
                </a:solidFill>
              </a:defRPr>
            </a:pPr>
            <a:r>
              <a:rPr dirty="0"/>
              <a:t>HR PROCESS FLOW</a:t>
            </a:r>
          </a:p>
        </p:txBody>
      </p:sp>
      <p:sp>
        <p:nvSpPr>
          <p:cNvPr id="6" name="TextBox 5"/>
          <p:cNvSpPr txBox="1"/>
          <p:nvPr/>
        </p:nvSpPr>
        <p:spPr>
          <a:xfrm>
            <a:off x="548640" y="6565392"/>
            <a:ext cx="10972800" cy="182880"/>
          </a:xfrm>
          <a:prstGeom prst="rect">
            <a:avLst/>
          </a:prstGeom>
          <a:noFill/>
        </p:spPr>
        <p:txBody>
          <a:bodyPr wrap="none">
            <a:spAutoFit/>
          </a:bodyPr>
          <a:lstStyle/>
          <a:p>
            <a:pPr>
              <a:defRPr sz="800">
                <a:solidFill>
                  <a:srgbClr val="697078"/>
                </a:solidFill>
              </a:defRPr>
            </a:pPr>
            <a:r>
              <a:t>HR Process • 1</a:t>
            </a:r>
          </a:p>
        </p:txBody>
      </p:sp>
      <p:pic>
        <p:nvPicPr>
          <p:cNvPr id="8" name="Picture 7">
            <a:extLst>
              <a:ext uri="{FF2B5EF4-FFF2-40B4-BE49-F238E27FC236}">
                <a16:creationId xmlns:a16="http://schemas.microsoft.com/office/drawing/2014/main" id="{082754DA-98BB-B6A9-50A2-1A60BED6A925}"/>
              </a:ext>
            </a:extLst>
          </p:cNvPr>
          <p:cNvPicPr>
            <a:picLocks noChangeAspect="1"/>
          </p:cNvPicPr>
          <p:nvPr/>
        </p:nvPicPr>
        <p:blipFill>
          <a:blip r:embed="rId2"/>
          <a:stretch>
            <a:fillRect/>
          </a:stretch>
        </p:blipFill>
        <p:spPr>
          <a:xfrm>
            <a:off x="115584" y="681487"/>
            <a:ext cx="12076415" cy="6066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19074"/>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0972800" cy="502920"/>
          </a:xfrm>
          <a:prstGeom prst="rect">
            <a:avLst/>
          </a:prstGeom>
          <a:noFill/>
        </p:spPr>
        <p:txBody>
          <a:bodyPr wrap="none">
            <a:spAutoFit/>
          </a:bodyPr>
          <a:lstStyle/>
          <a:p>
            <a:pPr>
              <a:defRPr sz="2500" b="1">
                <a:solidFill>
                  <a:srgbClr val="16375E"/>
                </a:solidFill>
              </a:defRPr>
            </a:pPr>
            <a:r>
              <a:t>1. Complete HR Process</a:t>
            </a:r>
          </a:p>
        </p:txBody>
      </p:sp>
      <p:sp>
        <p:nvSpPr>
          <p:cNvPr id="4" name="Rounded Rectangle 3"/>
          <p:cNvSpPr/>
          <p:nvPr/>
        </p:nvSpPr>
        <p:spPr>
          <a:xfrm>
            <a:off x="365760" y="1142999"/>
            <a:ext cx="1752972" cy="938505"/>
          </a:xfrm>
          <a:prstGeom prst="roundRect">
            <a:avLst/>
          </a:prstGeom>
          <a:solidFill>
            <a:srgbClr val="F7F9FC"/>
          </a:solidFill>
          <a:ln>
            <a:solidFill>
              <a:srgbClr val="163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6375E"/>
                </a:solidFill>
              </a:defRPr>
            </a:pPr>
            <a:r>
              <a:t>Recruitment</a:t>
            </a:r>
          </a:p>
          <a:p>
            <a:pPr>
              <a:defRPr sz="950">
                <a:solidFill>
                  <a:srgbClr val="2D343C"/>
                </a:solidFill>
              </a:defRPr>
            </a:pPr>
            <a:r>
              <a:t>Job → Candidate</a:t>
            </a:r>
          </a:p>
        </p:txBody>
      </p:sp>
      <p:cxnSp>
        <p:nvCxnSpPr>
          <p:cNvPr id="5" name="Connector 4"/>
          <p:cNvCxnSpPr>
            <a:cxnSpLocks/>
          </p:cNvCxnSpPr>
          <p:nvPr/>
        </p:nvCxnSpPr>
        <p:spPr>
          <a:xfrm>
            <a:off x="2118732" y="1585406"/>
            <a:ext cx="611254" cy="0"/>
          </a:xfrm>
          <a:prstGeom prst="line">
            <a:avLst/>
          </a:prstGeom>
          <a:ln>
            <a:solidFill>
              <a:srgbClr val="16375E"/>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686975" y="1092773"/>
            <a:ext cx="1592997" cy="985265"/>
          </a:xfrm>
          <a:prstGeom prst="roundRect">
            <a:avLst/>
          </a:prstGeom>
          <a:solidFill>
            <a:srgbClr val="F7F9FC"/>
          </a:solidFill>
          <a:ln>
            <a:solidFill>
              <a:srgbClr val="163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6375E"/>
                </a:solidFill>
              </a:defRPr>
            </a:pPr>
            <a:r>
              <a:t>Department</a:t>
            </a:r>
          </a:p>
          <a:p>
            <a:pPr>
              <a:defRPr sz="950">
                <a:solidFill>
                  <a:srgbClr val="2D343C"/>
                </a:solidFill>
              </a:defRPr>
            </a:pPr>
            <a:r>
              <a:t>Create or use existing</a:t>
            </a:r>
          </a:p>
        </p:txBody>
      </p:sp>
      <p:sp>
        <p:nvSpPr>
          <p:cNvPr id="8" name="Rounded Rectangle 7"/>
          <p:cNvSpPr/>
          <p:nvPr/>
        </p:nvSpPr>
        <p:spPr>
          <a:xfrm>
            <a:off x="4864030" y="1107033"/>
            <a:ext cx="1990558" cy="1017267"/>
          </a:xfrm>
          <a:prstGeom prst="roundRect">
            <a:avLst/>
          </a:prstGeom>
          <a:solidFill>
            <a:srgbClr val="F7F9FC"/>
          </a:solidFill>
          <a:ln>
            <a:solidFill>
              <a:srgbClr val="163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6375E"/>
                </a:solidFill>
              </a:defRPr>
            </a:pPr>
            <a:r>
              <a:t>Employee</a:t>
            </a:r>
          </a:p>
          <a:p>
            <a:pPr>
              <a:defRPr sz="950">
                <a:solidFill>
                  <a:srgbClr val="2D343C"/>
                </a:solidFill>
              </a:defRPr>
            </a:pPr>
            <a:r>
              <a:t>Create record</a:t>
            </a:r>
          </a:p>
        </p:txBody>
      </p:sp>
      <p:cxnSp>
        <p:nvCxnSpPr>
          <p:cNvPr id="9" name="Connector 8"/>
          <p:cNvCxnSpPr>
            <a:cxnSpLocks/>
          </p:cNvCxnSpPr>
          <p:nvPr/>
        </p:nvCxnSpPr>
        <p:spPr>
          <a:xfrm>
            <a:off x="4279972" y="1585405"/>
            <a:ext cx="560442" cy="0"/>
          </a:xfrm>
          <a:prstGeom prst="line">
            <a:avLst/>
          </a:prstGeom>
          <a:ln>
            <a:solidFill>
              <a:srgbClr val="16375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564305" y="1076708"/>
            <a:ext cx="1990557" cy="1117575"/>
          </a:xfrm>
          <a:prstGeom prst="roundRect">
            <a:avLst/>
          </a:prstGeom>
          <a:solidFill>
            <a:srgbClr val="F7F9FC"/>
          </a:solidFill>
          <a:ln>
            <a:solidFill>
              <a:srgbClr val="163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6375E"/>
                </a:solidFill>
              </a:defRPr>
            </a:pPr>
            <a:r>
              <a:rPr dirty="0"/>
              <a:t>Contract</a:t>
            </a:r>
          </a:p>
          <a:p>
            <a:pPr>
              <a:defRPr sz="950">
                <a:solidFill>
                  <a:srgbClr val="2D343C"/>
                </a:solidFill>
              </a:defRPr>
            </a:pPr>
            <a:r>
              <a:rPr dirty="0"/>
              <a:t>Salary + terms</a:t>
            </a:r>
          </a:p>
        </p:txBody>
      </p:sp>
      <p:cxnSp>
        <p:nvCxnSpPr>
          <p:cNvPr id="11" name="Connector 10"/>
          <p:cNvCxnSpPr>
            <a:cxnSpLocks/>
          </p:cNvCxnSpPr>
          <p:nvPr/>
        </p:nvCxnSpPr>
        <p:spPr>
          <a:xfrm>
            <a:off x="6854588" y="1612251"/>
            <a:ext cx="691153" cy="0"/>
          </a:xfrm>
          <a:prstGeom prst="line">
            <a:avLst/>
          </a:prstGeom>
          <a:ln>
            <a:solidFill>
              <a:srgbClr val="16375E"/>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02573" y="2901991"/>
            <a:ext cx="1816160" cy="1015870"/>
          </a:xfrm>
          <a:prstGeom prst="roundRect">
            <a:avLst/>
          </a:prstGeom>
          <a:solidFill>
            <a:srgbClr val="F7F9FC"/>
          </a:solidFill>
          <a:ln>
            <a:solidFill>
              <a:srgbClr val="163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6375E"/>
                </a:solidFill>
              </a:defRPr>
            </a:pPr>
            <a:r>
              <a:rPr dirty="0"/>
              <a:t>Leave</a:t>
            </a:r>
          </a:p>
          <a:p>
            <a:pPr>
              <a:defRPr sz="950">
                <a:solidFill>
                  <a:srgbClr val="2D343C"/>
                </a:solidFill>
              </a:defRPr>
            </a:pPr>
            <a:r>
              <a:rPr dirty="0"/>
              <a:t>Request → approval</a:t>
            </a:r>
          </a:p>
        </p:txBody>
      </p:sp>
      <p:cxnSp>
        <p:nvCxnSpPr>
          <p:cNvPr id="13" name="Connector 12"/>
          <p:cNvCxnSpPr>
            <a:cxnSpLocks/>
          </p:cNvCxnSpPr>
          <p:nvPr/>
        </p:nvCxnSpPr>
        <p:spPr>
          <a:xfrm>
            <a:off x="2118733" y="3349192"/>
            <a:ext cx="569851" cy="0"/>
          </a:xfrm>
          <a:prstGeom prst="line">
            <a:avLst/>
          </a:prstGeom>
          <a:ln>
            <a:solidFill>
              <a:srgbClr val="16375E"/>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6728" y="2841259"/>
            <a:ext cx="1733489" cy="1015867"/>
          </a:xfrm>
          <a:prstGeom prst="roundRect">
            <a:avLst/>
          </a:prstGeom>
          <a:solidFill>
            <a:srgbClr val="F7F9FC"/>
          </a:solidFill>
          <a:ln>
            <a:solidFill>
              <a:srgbClr val="163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6375E"/>
                </a:solidFill>
              </a:defRPr>
            </a:pPr>
            <a:r>
              <a:rPr dirty="0"/>
              <a:t>Attendance</a:t>
            </a:r>
          </a:p>
          <a:p>
            <a:pPr>
              <a:defRPr sz="950">
                <a:solidFill>
                  <a:srgbClr val="2D343C"/>
                </a:solidFill>
              </a:defRPr>
            </a:pPr>
            <a:r>
              <a:rPr dirty="0"/>
              <a:t>Check-in → work entry</a:t>
            </a:r>
          </a:p>
        </p:txBody>
      </p:sp>
      <p:cxnSp>
        <p:nvCxnSpPr>
          <p:cNvPr id="15" name="Connector 14"/>
          <p:cNvCxnSpPr>
            <a:cxnSpLocks/>
          </p:cNvCxnSpPr>
          <p:nvPr/>
        </p:nvCxnSpPr>
        <p:spPr>
          <a:xfrm>
            <a:off x="4350217" y="3301806"/>
            <a:ext cx="665860" cy="1"/>
          </a:xfrm>
          <a:prstGeom prst="line">
            <a:avLst/>
          </a:prstGeom>
          <a:ln>
            <a:solidFill>
              <a:srgbClr val="16375E"/>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870160" y="2821045"/>
            <a:ext cx="1984428" cy="1015867"/>
          </a:xfrm>
          <a:prstGeom prst="roundRect">
            <a:avLst/>
          </a:prstGeom>
          <a:solidFill>
            <a:srgbClr val="F7F9FC"/>
          </a:solidFill>
          <a:ln>
            <a:solidFill>
              <a:srgbClr val="163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6375E"/>
                </a:solidFill>
              </a:defRPr>
            </a:pPr>
            <a:r>
              <a:t>Payroll</a:t>
            </a:r>
          </a:p>
          <a:p>
            <a:pPr>
              <a:defRPr sz="950">
                <a:solidFill>
                  <a:srgbClr val="2D343C"/>
                </a:solidFill>
              </a:defRPr>
            </a:pPr>
            <a:r>
              <a:t>Salary → payslip</a:t>
            </a:r>
          </a:p>
        </p:txBody>
      </p:sp>
      <p:cxnSp>
        <p:nvCxnSpPr>
          <p:cNvPr id="17" name="Connector 16"/>
          <p:cNvCxnSpPr>
            <a:cxnSpLocks/>
          </p:cNvCxnSpPr>
          <p:nvPr/>
        </p:nvCxnSpPr>
        <p:spPr>
          <a:xfrm>
            <a:off x="9554862" y="1635495"/>
            <a:ext cx="733880" cy="0"/>
          </a:xfrm>
          <a:prstGeom prst="line">
            <a:avLst/>
          </a:prstGeom>
          <a:ln>
            <a:solidFill>
              <a:srgbClr val="16375E"/>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564305" y="2783533"/>
            <a:ext cx="1984428" cy="1015867"/>
          </a:xfrm>
          <a:prstGeom prst="roundRect">
            <a:avLst/>
          </a:prstGeom>
          <a:solidFill>
            <a:srgbClr val="F7F9FC"/>
          </a:solidFill>
          <a:ln>
            <a:solidFill>
              <a:srgbClr val="163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6375E"/>
                </a:solidFill>
              </a:defRPr>
            </a:pPr>
            <a:r>
              <a:t>Exit</a:t>
            </a:r>
          </a:p>
          <a:p>
            <a:pPr>
              <a:defRPr sz="950">
                <a:solidFill>
                  <a:srgbClr val="2D343C"/>
                </a:solidFill>
              </a:defRPr>
            </a:pPr>
            <a:r>
              <a:t>Resignation → closure</a:t>
            </a:r>
          </a:p>
        </p:txBody>
      </p:sp>
      <p:sp>
        <p:nvSpPr>
          <p:cNvPr id="19" name="Rounded Rectangle 18"/>
          <p:cNvSpPr/>
          <p:nvPr/>
        </p:nvSpPr>
        <p:spPr>
          <a:xfrm>
            <a:off x="804342" y="4450090"/>
            <a:ext cx="2699131" cy="1783065"/>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rPr dirty="0"/>
              <a:t>Department Decision</a:t>
            </a:r>
          </a:p>
          <a:p>
            <a:pPr>
              <a:defRPr sz="950">
                <a:solidFill>
                  <a:srgbClr val="2D343C"/>
                </a:solidFill>
              </a:defRPr>
            </a:pPr>
            <a:r>
              <a:rPr dirty="0"/>
              <a:t>Existing → select it</a:t>
            </a:r>
          </a:p>
          <a:p>
            <a:pPr>
              <a:defRPr sz="950">
                <a:solidFill>
                  <a:srgbClr val="2D343C"/>
                </a:solidFill>
              </a:defRPr>
            </a:pPr>
            <a:r>
              <a:rPr dirty="0"/>
              <a:t>Missing → create department</a:t>
            </a:r>
          </a:p>
          <a:p>
            <a:pPr>
              <a:defRPr sz="950">
                <a:solidFill>
                  <a:srgbClr val="2D343C"/>
                </a:solidFill>
              </a:defRPr>
            </a:pPr>
            <a:r>
              <a:rPr dirty="0"/>
              <a:t>Then create employee</a:t>
            </a:r>
          </a:p>
        </p:txBody>
      </p:sp>
      <p:sp>
        <p:nvSpPr>
          <p:cNvPr id="20" name="Rounded Rectangle 19"/>
          <p:cNvSpPr/>
          <p:nvPr/>
        </p:nvSpPr>
        <p:spPr>
          <a:xfrm>
            <a:off x="5761405" y="4406574"/>
            <a:ext cx="2699131" cy="1855227"/>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rPr dirty="0"/>
              <a:t>Employee Lifecycle</a:t>
            </a:r>
          </a:p>
          <a:p>
            <a:pPr>
              <a:defRPr sz="950">
                <a:solidFill>
                  <a:srgbClr val="2D343C"/>
                </a:solidFill>
              </a:defRPr>
            </a:pPr>
            <a:r>
              <a:rPr dirty="0"/>
              <a:t>Employee master</a:t>
            </a:r>
          </a:p>
          <a:p>
            <a:pPr>
              <a:defRPr sz="950">
                <a:solidFill>
                  <a:srgbClr val="2D343C"/>
                </a:solidFill>
              </a:defRPr>
            </a:pPr>
            <a:r>
              <a:rPr dirty="0"/>
              <a:t>Contract</a:t>
            </a:r>
          </a:p>
          <a:p>
            <a:pPr>
              <a:defRPr sz="950">
                <a:solidFill>
                  <a:srgbClr val="2D343C"/>
                </a:solidFill>
              </a:defRPr>
            </a:pPr>
            <a:r>
              <a:rPr dirty="0"/>
              <a:t>Daily HR</a:t>
            </a:r>
          </a:p>
          <a:p>
            <a:pPr>
              <a:defRPr sz="950">
                <a:solidFill>
                  <a:srgbClr val="2D343C"/>
                </a:solidFill>
              </a:defRPr>
            </a:pPr>
            <a:r>
              <a:rPr dirty="0"/>
              <a:t>Payroll</a:t>
            </a:r>
          </a:p>
          <a:p>
            <a:pPr>
              <a:defRPr sz="950">
                <a:solidFill>
                  <a:srgbClr val="2D343C"/>
                </a:solidFill>
              </a:defRPr>
            </a:pPr>
            <a:r>
              <a:rPr dirty="0"/>
              <a:t>Resignation</a:t>
            </a:r>
          </a:p>
        </p:txBody>
      </p:sp>
      <p:sp>
        <p:nvSpPr>
          <p:cNvPr id="22" name="TextBox 21"/>
          <p:cNvSpPr txBox="1"/>
          <p:nvPr/>
        </p:nvSpPr>
        <p:spPr>
          <a:xfrm>
            <a:off x="548640" y="6565392"/>
            <a:ext cx="10972800" cy="182880"/>
          </a:xfrm>
          <a:prstGeom prst="rect">
            <a:avLst/>
          </a:prstGeom>
          <a:noFill/>
        </p:spPr>
        <p:txBody>
          <a:bodyPr wrap="none">
            <a:spAutoFit/>
          </a:bodyPr>
          <a:lstStyle/>
          <a:p>
            <a:pPr>
              <a:defRPr sz="800">
                <a:solidFill>
                  <a:srgbClr val="697078"/>
                </a:solidFill>
              </a:defRPr>
            </a:pPr>
            <a:r>
              <a:t>HR Process • 2</a:t>
            </a:r>
          </a:p>
        </p:txBody>
      </p:sp>
      <p:cxnSp>
        <p:nvCxnSpPr>
          <p:cNvPr id="44" name="Straight Connector 43">
            <a:extLst>
              <a:ext uri="{FF2B5EF4-FFF2-40B4-BE49-F238E27FC236}">
                <a16:creationId xmlns:a16="http://schemas.microsoft.com/office/drawing/2014/main" id="{B041DB02-1D50-9184-45C1-7D8752E2D395}"/>
              </a:ext>
            </a:extLst>
          </p:cNvPr>
          <p:cNvCxnSpPr>
            <a:cxnSpLocks/>
          </p:cNvCxnSpPr>
          <p:nvPr/>
        </p:nvCxnSpPr>
        <p:spPr>
          <a:xfrm>
            <a:off x="10288742" y="1635495"/>
            <a:ext cx="0" cy="862378"/>
          </a:xfrm>
          <a:prstGeom prst="line">
            <a:avLst/>
          </a:prstGeom>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8879DDA3-A510-BBD3-B1D1-2CA9188F8F44}"/>
              </a:ext>
            </a:extLst>
          </p:cNvPr>
          <p:cNvCxnSpPr/>
          <p:nvPr/>
        </p:nvCxnSpPr>
        <p:spPr>
          <a:xfrm flipH="1">
            <a:off x="1234068" y="2497873"/>
            <a:ext cx="9054674" cy="0"/>
          </a:xfrm>
          <a:prstGeom prst="line">
            <a:avLst/>
          </a:prstGeom>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8BD640C5-C835-52D6-9286-69A936BFF94A}"/>
              </a:ext>
            </a:extLst>
          </p:cNvPr>
          <p:cNvCxnSpPr/>
          <p:nvPr/>
        </p:nvCxnSpPr>
        <p:spPr>
          <a:xfrm>
            <a:off x="1234068" y="2497873"/>
            <a:ext cx="0" cy="3433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338C2CAC-13E2-484C-D2C9-59379CBFF762}"/>
              </a:ext>
            </a:extLst>
          </p:cNvPr>
          <p:cNvCxnSpPr/>
          <p:nvPr/>
        </p:nvCxnSpPr>
        <p:spPr>
          <a:xfrm>
            <a:off x="6854588" y="3301806"/>
            <a:ext cx="691153"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760" y="283029"/>
            <a:ext cx="10972800" cy="502920"/>
          </a:xfrm>
          <a:prstGeom prst="rect">
            <a:avLst/>
          </a:prstGeom>
          <a:noFill/>
        </p:spPr>
        <p:txBody>
          <a:bodyPr wrap="none">
            <a:spAutoFit/>
          </a:bodyPr>
          <a:lstStyle/>
          <a:p>
            <a:pPr>
              <a:defRPr sz="2500" b="1">
                <a:solidFill>
                  <a:srgbClr val="16375E"/>
                </a:solidFill>
              </a:defRPr>
            </a:pPr>
            <a:r>
              <a:rPr dirty="0"/>
              <a:t>2. Recruitment</a:t>
            </a:r>
          </a:p>
        </p:txBody>
      </p:sp>
      <p:sp>
        <p:nvSpPr>
          <p:cNvPr id="4" name="Rounded Rectangle 3"/>
          <p:cNvSpPr/>
          <p:nvPr/>
        </p:nvSpPr>
        <p:spPr>
          <a:xfrm>
            <a:off x="365760" y="1143000"/>
            <a:ext cx="1364742" cy="685800"/>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rPr dirty="0"/>
              <a:t>Open Recruitment</a:t>
            </a:r>
          </a:p>
          <a:p>
            <a:pPr>
              <a:defRPr sz="950">
                <a:solidFill>
                  <a:srgbClr val="2D343C"/>
                </a:solidFill>
              </a:defRPr>
            </a:pPr>
            <a:r>
              <a:rPr dirty="0"/>
              <a:t>Applicants / Jobs</a:t>
            </a:r>
          </a:p>
        </p:txBody>
      </p:sp>
      <p:cxnSp>
        <p:nvCxnSpPr>
          <p:cNvPr id="5" name="Connector 4"/>
          <p:cNvCxnSpPr/>
          <p:nvPr/>
        </p:nvCxnSpPr>
        <p:spPr>
          <a:xfrm>
            <a:off x="1730502" y="1481328"/>
            <a:ext cx="73152" cy="0"/>
          </a:xfrm>
          <a:prstGeom prst="line">
            <a:avLst/>
          </a:prstGeom>
          <a:ln>
            <a:solidFill>
              <a:srgbClr val="3778BE"/>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803654" y="1143000"/>
            <a:ext cx="1364742" cy="685800"/>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t>New Job</a:t>
            </a:r>
          </a:p>
          <a:p>
            <a:pPr>
              <a:defRPr sz="950">
                <a:solidFill>
                  <a:srgbClr val="2D343C"/>
                </a:solidFill>
              </a:defRPr>
            </a:pPr>
            <a:r>
              <a:t>Create opening</a:t>
            </a:r>
          </a:p>
        </p:txBody>
      </p:sp>
      <p:cxnSp>
        <p:nvCxnSpPr>
          <p:cNvPr id="7" name="Connector 6"/>
          <p:cNvCxnSpPr/>
          <p:nvPr/>
        </p:nvCxnSpPr>
        <p:spPr>
          <a:xfrm>
            <a:off x="3168396" y="1481328"/>
            <a:ext cx="73152" cy="0"/>
          </a:xfrm>
          <a:prstGeom prst="line">
            <a:avLst/>
          </a:prstGeom>
          <a:ln>
            <a:solidFill>
              <a:srgbClr val="3778BE"/>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241548" y="1143000"/>
            <a:ext cx="1364742" cy="685800"/>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t>Job Details</a:t>
            </a:r>
          </a:p>
          <a:p>
            <a:pPr>
              <a:defRPr sz="950">
                <a:solidFill>
                  <a:srgbClr val="2D343C"/>
                </a:solidFill>
              </a:defRPr>
            </a:pPr>
            <a:r>
              <a:t>Title / department / description</a:t>
            </a:r>
          </a:p>
        </p:txBody>
      </p:sp>
      <p:cxnSp>
        <p:nvCxnSpPr>
          <p:cNvPr id="9" name="Connector 8"/>
          <p:cNvCxnSpPr/>
          <p:nvPr/>
        </p:nvCxnSpPr>
        <p:spPr>
          <a:xfrm>
            <a:off x="4606290" y="1481328"/>
            <a:ext cx="73152" cy="0"/>
          </a:xfrm>
          <a:prstGeom prst="line">
            <a:avLst/>
          </a:prstGeom>
          <a:ln>
            <a:solidFill>
              <a:srgbClr val="3778B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679442" y="1143000"/>
            <a:ext cx="1364742" cy="685800"/>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t>Publish / Save</a:t>
            </a:r>
          </a:p>
          <a:p>
            <a:pPr>
              <a:defRPr sz="950">
                <a:solidFill>
                  <a:srgbClr val="2D343C"/>
                </a:solidFill>
              </a:defRPr>
            </a:pPr>
            <a:r>
              <a:t>Opening ready</a:t>
            </a:r>
          </a:p>
        </p:txBody>
      </p:sp>
      <p:cxnSp>
        <p:nvCxnSpPr>
          <p:cNvPr id="11" name="Connector 10"/>
          <p:cNvCxnSpPr/>
          <p:nvPr/>
        </p:nvCxnSpPr>
        <p:spPr>
          <a:xfrm>
            <a:off x="6044184" y="1481328"/>
            <a:ext cx="73152" cy="0"/>
          </a:xfrm>
          <a:prstGeom prst="line">
            <a:avLst/>
          </a:prstGeom>
          <a:ln>
            <a:solidFill>
              <a:srgbClr val="3778BE"/>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17336" y="1143000"/>
            <a:ext cx="1364742" cy="685800"/>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t>Candidates</a:t>
            </a:r>
          </a:p>
          <a:p>
            <a:pPr>
              <a:defRPr sz="950">
                <a:solidFill>
                  <a:srgbClr val="2D343C"/>
                </a:solidFill>
              </a:defRPr>
            </a:pPr>
            <a:r>
              <a:t>Applications</a:t>
            </a:r>
          </a:p>
        </p:txBody>
      </p:sp>
      <p:cxnSp>
        <p:nvCxnSpPr>
          <p:cNvPr id="13" name="Connector 12"/>
          <p:cNvCxnSpPr/>
          <p:nvPr/>
        </p:nvCxnSpPr>
        <p:spPr>
          <a:xfrm>
            <a:off x="7482078" y="1481328"/>
            <a:ext cx="73151" cy="0"/>
          </a:xfrm>
          <a:prstGeom prst="line">
            <a:avLst/>
          </a:prstGeom>
          <a:ln>
            <a:solidFill>
              <a:srgbClr val="3778BE"/>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555229" y="1143000"/>
            <a:ext cx="1364742" cy="685800"/>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t>Review</a:t>
            </a:r>
          </a:p>
          <a:p>
            <a:pPr>
              <a:defRPr sz="950">
                <a:solidFill>
                  <a:srgbClr val="2D343C"/>
                </a:solidFill>
              </a:defRPr>
            </a:pPr>
            <a:r>
              <a:t>Shortlist</a:t>
            </a:r>
          </a:p>
        </p:txBody>
      </p:sp>
      <p:cxnSp>
        <p:nvCxnSpPr>
          <p:cNvPr id="15" name="Connector 14"/>
          <p:cNvCxnSpPr/>
          <p:nvPr/>
        </p:nvCxnSpPr>
        <p:spPr>
          <a:xfrm>
            <a:off x="8919972" y="1481328"/>
            <a:ext cx="73152" cy="0"/>
          </a:xfrm>
          <a:prstGeom prst="line">
            <a:avLst/>
          </a:prstGeom>
          <a:ln>
            <a:solidFill>
              <a:srgbClr val="3778BE"/>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993124" y="1143000"/>
            <a:ext cx="1364742" cy="685800"/>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t>Interview</a:t>
            </a:r>
          </a:p>
          <a:p>
            <a:pPr>
              <a:defRPr sz="950">
                <a:solidFill>
                  <a:srgbClr val="2D343C"/>
                </a:solidFill>
              </a:defRPr>
            </a:pPr>
            <a:r>
              <a:t>Evaluation</a:t>
            </a:r>
          </a:p>
        </p:txBody>
      </p:sp>
      <p:cxnSp>
        <p:nvCxnSpPr>
          <p:cNvPr id="17" name="Connector 16"/>
          <p:cNvCxnSpPr/>
          <p:nvPr/>
        </p:nvCxnSpPr>
        <p:spPr>
          <a:xfrm>
            <a:off x="10357866" y="1481328"/>
            <a:ext cx="73152" cy="0"/>
          </a:xfrm>
          <a:prstGeom prst="line">
            <a:avLst/>
          </a:prstGeom>
          <a:ln>
            <a:solidFill>
              <a:srgbClr val="3778BE"/>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431018" y="1143000"/>
            <a:ext cx="1364742" cy="685800"/>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t>Select</a:t>
            </a:r>
          </a:p>
          <a:p>
            <a:pPr>
              <a:defRPr sz="950">
                <a:solidFill>
                  <a:srgbClr val="2D343C"/>
                </a:solidFill>
              </a:defRPr>
            </a:pPr>
            <a:r>
              <a:t>Candidate selected</a:t>
            </a:r>
          </a:p>
        </p:txBody>
      </p:sp>
      <p:sp>
        <p:nvSpPr>
          <p:cNvPr id="21" name="TextBox 20"/>
          <p:cNvSpPr txBox="1"/>
          <p:nvPr/>
        </p:nvSpPr>
        <p:spPr>
          <a:xfrm>
            <a:off x="548640" y="6565392"/>
            <a:ext cx="10972800" cy="182880"/>
          </a:xfrm>
          <a:prstGeom prst="rect">
            <a:avLst/>
          </a:prstGeom>
          <a:noFill/>
        </p:spPr>
        <p:txBody>
          <a:bodyPr wrap="none">
            <a:spAutoFit/>
          </a:bodyPr>
          <a:lstStyle/>
          <a:p>
            <a:pPr>
              <a:defRPr sz="800">
                <a:solidFill>
                  <a:srgbClr val="697078"/>
                </a:solidFill>
              </a:defRPr>
            </a:pPr>
            <a:r>
              <a:t>HR Process • 3</a:t>
            </a:r>
          </a:p>
        </p:txBody>
      </p:sp>
      <p:pic>
        <p:nvPicPr>
          <p:cNvPr id="32" name="Picture 31">
            <a:extLst>
              <a:ext uri="{FF2B5EF4-FFF2-40B4-BE49-F238E27FC236}">
                <a16:creationId xmlns:a16="http://schemas.microsoft.com/office/drawing/2014/main" id="{168B4571-FCB0-4455-D0BE-9E783C67040F}"/>
              </a:ext>
            </a:extLst>
          </p:cNvPr>
          <p:cNvPicPr>
            <a:picLocks noChangeAspect="1"/>
          </p:cNvPicPr>
          <p:nvPr/>
        </p:nvPicPr>
        <p:blipFill>
          <a:blip r:embed="rId2"/>
          <a:stretch>
            <a:fillRect/>
          </a:stretch>
        </p:blipFill>
        <p:spPr>
          <a:xfrm>
            <a:off x="175006" y="2195431"/>
            <a:ext cx="3665474" cy="2154658"/>
          </a:xfrm>
          <a:prstGeom prst="rect">
            <a:avLst/>
          </a:prstGeom>
        </p:spPr>
      </p:pic>
      <p:pic>
        <p:nvPicPr>
          <p:cNvPr id="34" name="Picture 33">
            <a:extLst>
              <a:ext uri="{FF2B5EF4-FFF2-40B4-BE49-F238E27FC236}">
                <a16:creationId xmlns:a16="http://schemas.microsoft.com/office/drawing/2014/main" id="{D66D1CE8-97BD-8DC3-4678-9F87C7809BD1}"/>
              </a:ext>
            </a:extLst>
          </p:cNvPr>
          <p:cNvPicPr>
            <a:picLocks noChangeAspect="1"/>
          </p:cNvPicPr>
          <p:nvPr/>
        </p:nvPicPr>
        <p:blipFill>
          <a:blip r:embed="rId3"/>
          <a:stretch>
            <a:fillRect/>
          </a:stretch>
        </p:blipFill>
        <p:spPr>
          <a:xfrm>
            <a:off x="8414094" y="2192979"/>
            <a:ext cx="3683830" cy="2154658"/>
          </a:xfrm>
          <a:prstGeom prst="rect">
            <a:avLst/>
          </a:prstGeom>
        </p:spPr>
      </p:pic>
      <p:pic>
        <p:nvPicPr>
          <p:cNvPr id="36" name="Picture 35">
            <a:extLst>
              <a:ext uri="{FF2B5EF4-FFF2-40B4-BE49-F238E27FC236}">
                <a16:creationId xmlns:a16="http://schemas.microsoft.com/office/drawing/2014/main" id="{BE31602C-E96F-B075-4CAF-812E05CB37E8}"/>
              </a:ext>
            </a:extLst>
          </p:cNvPr>
          <p:cNvPicPr>
            <a:picLocks noChangeAspect="1"/>
          </p:cNvPicPr>
          <p:nvPr/>
        </p:nvPicPr>
        <p:blipFill>
          <a:blip r:embed="rId4"/>
          <a:stretch>
            <a:fillRect/>
          </a:stretch>
        </p:blipFill>
        <p:spPr>
          <a:xfrm>
            <a:off x="8466769" y="4671026"/>
            <a:ext cx="3578481" cy="2090692"/>
          </a:xfrm>
          <a:prstGeom prst="rect">
            <a:avLst/>
          </a:prstGeom>
        </p:spPr>
      </p:pic>
      <p:pic>
        <p:nvPicPr>
          <p:cNvPr id="38" name="Picture 37">
            <a:extLst>
              <a:ext uri="{FF2B5EF4-FFF2-40B4-BE49-F238E27FC236}">
                <a16:creationId xmlns:a16="http://schemas.microsoft.com/office/drawing/2014/main" id="{53D031C9-3BE6-3FAF-B226-486FDFBBDC4A}"/>
              </a:ext>
            </a:extLst>
          </p:cNvPr>
          <p:cNvPicPr>
            <a:picLocks noChangeAspect="1"/>
          </p:cNvPicPr>
          <p:nvPr/>
        </p:nvPicPr>
        <p:blipFill>
          <a:blip r:embed="rId5"/>
          <a:stretch>
            <a:fillRect/>
          </a:stretch>
        </p:blipFill>
        <p:spPr>
          <a:xfrm>
            <a:off x="4606290" y="4671026"/>
            <a:ext cx="3594281" cy="2090692"/>
          </a:xfrm>
          <a:prstGeom prst="rect">
            <a:avLst/>
          </a:prstGeom>
        </p:spPr>
      </p:pic>
      <p:cxnSp>
        <p:nvCxnSpPr>
          <p:cNvPr id="39" name="Straight Arrow Connector 38">
            <a:extLst>
              <a:ext uri="{FF2B5EF4-FFF2-40B4-BE49-F238E27FC236}">
                <a16:creationId xmlns:a16="http://schemas.microsoft.com/office/drawing/2014/main" id="{28D1BC09-3F79-92BA-3D8E-73731BCB9206}"/>
              </a:ext>
            </a:extLst>
          </p:cNvPr>
          <p:cNvCxnSpPr>
            <a:cxnSpLocks/>
            <a:stCxn id="32" idx="3"/>
          </p:cNvCxnSpPr>
          <p:nvPr/>
        </p:nvCxnSpPr>
        <p:spPr>
          <a:xfrm>
            <a:off x="3840480" y="3272760"/>
            <a:ext cx="395504" cy="3162"/>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561F2B47-30D5-D318-944C-1ED594CF952A}"/>
              </a:ext>
            </a:extLst>
          </p:cNvPr>
          <p:cNvCxnSpPr>
            <a:cxnSpLocks/>
          </p:cNvCxnSpPr>
          <p:nvPr/>
        </p:nvCxnSpPr>
        <p:spPr>
          <a:xfrm>
            <a:off x="7964757" y="3310146"/>
            <a:ext cx="480261" cy="0"/>
          </a:xfrm>
          <a:prstGeom prst="straightConnector1">
            <a:avLst/>
          </a:prstGeom>
          <a:ln w="28575">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44" name="Straight Arrow Connector 43">
            <a:extLst>
              <a:ext uri="{FF2B5EF4-FFF2-40B4-BE49-F238E27FC236}">
                <a16:creationId xmlns:a16="http://schemas.microsoft.com/office/drawing/2014/main" id="{0CEB74D9-620D-01B9-E649-E1F60B51B3D8}"/>
              </a:ext>
            </a:extLst>
          </p:cNvPr>
          <p:cNvCxnSpPr>
            <a:cxnSpLocks/>
          </p:cNvCxnSpPr>
          <p:nvPr/>
        </p:nvCxnSpPr>
        <p:spPr>
          <a:xfrm>
            <a:off x="9887071" y="4350089"/>
            <a:ext cx="0" cy="320937"/>
          </a:xfrm>
          <a:prstGeom prst="straightConnector1">
            <a:avLst/>
          </a:prstGeom>
          <a:ln w="28575">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9" name="Rounded Rectangle 18">
            <a:extLst>
              <a:ext uri="{FF2B5EF4-FFF2-40B4-BE49-F238E27FC236}">
                <a16:creationId xmlns:a16="http://schemas.microsoft.com/office/drawing/2014/main" id="{3D273E12-7F3C-393C-74AA-EAC002DB82BE}"/>
              </a:ext>
            </a:extLst>
          </p:cNvPr>
          <p:cNvSpPr/>
          <p:nvPr/>
        </p:nvSpPr>
        <p:spPr>
          <a:xfrm>
            <a:off x="146750" y="4497512"/>
            <a:ext cx="4313681" cy="2264206"/>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marL="143510" marR="254635" indent="-131445">
              <a:lnSpc>
                <a:spcPct val="113700"/>
              </a:lnSpc>
              <a:spcBef>
                <a:spcPts val="95"/>
              </a:spcBef>
              <a:buSzPct val="62500"/>
              <a:buChar char="●"/>
              <a:tabLst>
                <a:tab pos="143510" algn="l"/>
                <a:tab pos="145415" algn="l"/>
              </a:tabLst>
            </a:pPr>
            <a:r>
              <a:rPr lang="en-US" sz="900" dirty="0">
                <a:solidFill>
                  <a:srgbClr val="4E7BFF"/>
                </a:solidFill>
                <a:latin typeface="Microsoft Sans Serif"/>
                <a:cs typeface="Microsoft Sans Serif"/>
              </a:rPr>
              <a:t>	</a:t>
            </a:r>
            <a:r>
              <a:rPr lang="en-US" sz="800" spc="-10" dirty="0">
                <a:solidFill>
                  <a:srgbClr val="1A294D"/>
                </a:solidFill>
                <a:latin typeface="Microsoft Sans Serif"/>
                <a:cs typeface="Microsoft Sans Serif"/>
              </a:rPr>
              <a:t>Department </a:t>
            </a:r>
            <a:r>
              <a:rPr lang="en-US" sz="800" dirty="0">
                <a:solidFill>
                  <a:srgbClr val="1A294D"/>
                </a:solidFill>
                <a:latin typeface="Microsoft Sans Serif"/>
                <a:cs typeface="Microsoft Sans Serif"/>
              </a:rPr>
              <a:t>raises a</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job</a:t>
            </a:r>
            <a:r>
              <a:rPr lang="en-US" sz="800" spc="-10" dirty="0">
                <a:solidFill>
                  <a:srgbClr val="1A294D"/>
                </a:solidFill>
                <a:latin typeface="Microsoft Sans Serif"/>
                <a:cs typeface="Microsoft Sans Serif"/>
              </a:rPr>
              <a:t> requisition;</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once</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approved</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it</a:t>
            </a:r>
            <a:r>
              <a:rPr lang="en-US" sz="800" spc="-1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is </a:t>
            </a:r>
            <a:r>
              <a:rPr lang="en-US" sz="800" spc="-10" dirty="0">
                <a:solidFill>
                  <a:srgbClr val="1A294D"/>
                </a:solidFill>
                <a:latin typeface="Microsoft Sans Serif"/>
                <a:cs typeface="Microsoft Sans Serif"/>
              </a:rPr>
              <a:t>published</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to</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the</a:t>
            </a:r>
            <a:r>
              <a:rPr lang="en-US" sz="800" spc="-10" dirty="0">
                <a:solidFill>
                  <a:srgbClr val="1A294D"/>
                </a:solidFill>
                <a:latin typeface="Microsoft Sans Serif"/>
                <a:cs typeface="Microsoft Sans Serif"/>
              </a:rPr>
              <a:t> careers </a:t>
            </a:r>
            <a:r>
              <a:rPr lang="en-US" sz="800" dirty="0">
                <a:solidFill>
                  <a:srgbClr val="1A294D"/>
                </a:solidFill>
                <a:latin typeface="Microsoft Sans Serif"/>
                <a:cs typeface="Microsoft Sans Serif"/>
              </a:rPr>
              <a:t>website</a:t>
            </a:r>
            <a:r>
              <a:rPr lang="en-US" sz="800" spc="-2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a:t>
            </a:r>
            <a:r>
              <a:rPr lang="en-US" sz="800" spc="-2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job</a:t>
            </a:r>
            <a:r>
              <a:rPr lang="en-US" sz="800" spc="-25"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boards.</a:t>
            </a:r>
            <a:endParaRPr lang="en-US" sz="800" dirty="0">
              <a:latin typeface="Microsoft Sans Serif"/>
              <a:cs typeface="Microsoft Sans Serif"/>
            </a:endParaRPr>
          </a:p>
          <a:p>
            <a:pPr marL="146050" indent="-133350">
              <a:lnSpc>
                <a:spcPct val="100000"/>
              </a:lnSpc>
              <a:spcBef>
                <a:spcPts val="595"/>
              </a:spcBef>
              <a:buClr>
                <a:srgbClr val="4E7BFF"/>
              </a:buClr>
              <a:buSzPct val="62500"/>
              <a:buChar char="●"/>
              <a:tabLst>
                <a:tab pos="146050" algn="l"/>
              </a:tabLst>
            </a:pPr>
            <a:r>
              <a:rPr lang="en-US" sz="800" spc="-10" dirty="0">
                <a:solidFill>
                  <a:srgbClr val="1A294D"/>
                </a:solidFill>
                <a:latin typeface="Microsoft Sans Serif"/>
                <a:cs typeface="Microsoft Sans Serif"/>
              </a:rPr>
              <a:t>Applications</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land</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as </a:t>
            </a:r>
            <a:r>
              <a:rPr lang="en-US" sz="800" spc="-10" dirty="0">
                <a:solidFill>
                  <a:srgbClr val="1A294D"/>
                </a:solidFill>
                <a:latin typeface="Microsoft Sans Serif"/>
                <a:cs typeface="Microsoft Sans Serif"/>
              </a:rPr>
              <a:t>candidate</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cards</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in</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the</a:t>
            </a:r>
            <a:r>
              <a:rPr lang="en-US" sz="800" spc="-5"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Recruitment</a:t>
            </a:r>
            <a:r>
              <a:rPr lang="en-US" sz="800" spc="-5"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pipeline</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against</a:t>
            </a:r>
            <a:r>
              <a:rPr lang="en-US" sz="800" spc="-1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that</a:t>
            </a:r>
            <a:r>
              <a:rPr lang="en-US" sz="800" spc="-5"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position.</a:t>
            </a:r>
            <a:endParaRPr lang="en-US" sz="800" dirty="0">
              <a:latin typeface="Microsoft Sans Serif"/>
              <a:cs typeface="Microsoft Sans Serif"/>
            </a:endParaRPr>
          </a:p>
          <a:p>
            <a:pPr marL="143510" marR="418465" indent="-131445">
              <a:lnSpc>
                <a:spcPct val="113700"/>
              </a:lnSpc>
              <a:spcBef>
                <a:spcPts val="455"/>
              </a:spcBef>
              <a:buSzPct val="62500"/>
              <a:buChar char="●"/>
              <a:tabLst>
                <a:tab pos="143510" algn="l"/>
                <a:tab pos="145415" algn="l"/>
              </a:tabLst>
            </a:pPr>
            <a:r>
              <a:rPr lang="en-US" sz="800" dirty="0">
                <a:solidFill>
                  <a:srgbClr val="4E7BFF"/>
                </a:solidFill>
                <a:latin typeface="Microsoft Sans Serif"/>
                <a:cs typeface="Microsoft Sans Serif"/>
              </a:rPr>
              <a:t>	</a:t>
            </a:r>
            <a:r>
              <a:rPr lang="en-US" sz="800" dirty="0">
                <a:solidFill>
                  <a:srgbClr val="1A294D"/>
                </a:solidFill>
                <a:latin typeface="Microsoft Sans Serif"/>
                <a:cs typeface="Microsoft Sans Serif"/>
              </a:rPr>
              <a:t>Recruiter</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and</a:t>
            </a:r>
            <a:r>
              <a:rPr lang="en-US" sz="800" spc="-15"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interviewers</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move</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each</a:t>
            </a:r>
            <a:r>
              <a:rPr lang="en-US" sz="800" spc="-10" dirty="0">
                <a:solidFill>
                  <a:srgbClr val="1A294D"/>
                </a:solidFill>
                <a:latin typeface="Microsoft Sans Serif"/>
                <a:cs typeface="Microsoft Sans Serif"/>
              </a:rPr>
              <a:t> candidate</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through</a:t>
            </a:r>
            <a:r>
              <a:rPr lang="en-US" sz="800" spc="-1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the</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stages,</a:t>
            </a:r>
            <a:r>
              <a:rPr lang="en-US" sz="800" spc="-10" dirty="0">
                <a:solidFill>
                  <a:srgbClr val="1A294D"/>
                </a:solidFill>
                <a:latin typeface="Microsoft Sans Serif"/>
                <a:cs typeface="Microsoft Sans Serif"/>
              </a:rPr>
              <a:t> logging interview</a:t>
            </a:r>
            <a:r>
              <a:rPr lang="en-US" sz="800" spc="15"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evaluations</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and</a:t>
            </a:r>
            <a:r>
              <a:rPr lang="en-US" sz="800" spc="10"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scorecards.</a:t>
            </a:r>
            <a:endParaRPr lang="en-US" sz="800" dirty="0">
              <a:latin typeface="Microsoft Sans Serif"/>
              <a:cs typeface="Microsoft Sans Serif"/>
            </a:endParaRPr>
          </a:p>
          <a:p>
            <a:pPr marL="146050" indent="-133350">
              <a:lnSpc>
                <a:spcPct val="100000"/>
              </a:lnSpc>
              <a:spcBef>
                <a:spcPts val="595"/>
              </a:spcBef>
              <a:buClr>
                <a:srgbClr val="4E7BFF"/>
              </a:buClr>
              <a:buSzPct val="62500"/>
              <a:buChar char="●"/>
              <a:tabLst>
                <a:tab pos="146050" algn="l"/>
              </a:tabLst>
            </a:pPr>
            <a:r>
              <a:rPr lang="en-US" sz="800" dirty="0">
                <a:solidFill>
                  <a:srgbClr val="1A294D"/>
                </a:solidFill>
                <a:latin typeface="Microsoft Sans Serif"/>
                <a:cs typeface="Microsoft Sans Serif"/>
              </a:rPr>
              <a:t>An</a:t>
            </a:r>
            <a:r>
              <a:rPr lang="en-US" sz="800" spc="-2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offer</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contract</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proposal</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is</a:t>
            </a:r>
            <a:r>
              <a:rPr lang="en-US" sz="800" spc="-1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prepared</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and</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sent</a:t>
            </a:r>
            <a:r>
              <a:rPr lang="en-US" sz="800" spc="-2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for</a:t>
            </a:r>
            <a:r>
              <a:rPr lang="en-US" sz="800" spc="-1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the</a:t>
            </a:r>
            <a:r>
              <a:rPr lang="en-US" sz="800" spc="-15"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candidate's signature.</a:t>
            </a:r>
            <a:endParaRPr lang="en-US" sz="800" dirty="0">
              <a:latin typeface="Microsoft Sans Serif"/>
              <a:cs typeface="Microsoft Sans Serif"/>
            </a:endParaRPr>
          </a:p>
          <a:p>
            <a:pPr marL="143510" marR="470534" indent="-131445">
              <a:lnSpc>
                <a:spcPct val="113700"/>
              </a:lnSpc>
              <a:spcBef>
                <a:spcPts val="455"/>
              </a:spcBef>
              <a:buSzPct val="62500"/>
              <a:buChar char="●"/>
              <a:tabLst>
                <a:tab pos="143510" algn="l"/>
                <a:tab pos="145415" algn="l"/>
              </a:tabLst>
            </a:pPr>
            <a:r>
              <a:rPr lang="en-US" sz="800" dirty="0">
                <a:solidFill>
                  <a:srgbClr val="4E7BFF"/>
                </a:solidFill>
                <a:latin typeface="Microsoft Sans Serif"/>
                <a:cs typeface="Microsoft Sans Serif"/>
              </a:rPr>
              <a:t>	</a:t>
            </a:r>
            <a:r>
              <a:rPr lang="en-US" sz="800" dirty="0">
                <a:solidFill>
                  <a:srgbClr val="1A294D"/>
                </a:solidFill>
                <a:latin typeface="Microsoft Sans Serif"/>
                <a:cs typeface="Microsoft Sans Serif"/>
              </a:rPr>
              <a:t>On</a:t>
            </a:r>
            <a:r>
              <a:rPr lang="en-US" sz="800" spc="-10" dirty="0">
                <a:solidFill>
                  <a:srgbClr val="1A294D"/>
                </a:solidFill>
                <a:latin typeface="Microsoft Sans Serif"/>
                <a:cs typeface="Microsoft Sans Serif"/>
              </a:rPr>
              <a:t> signature,</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the</a:t>
            </a:r>
            <a:r>
              <a:rPr lang="en-US" sz="800" spc="-5"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candidate</a:t>
            </a:r>
            <a:r>
              <a:rPr lang="en-US" sz="800" spc="-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is marked</a:t>
            </a:r>
            <a:r>
              <a:rPr lang="en-US" sz="800" spc="-5" dirty="0">
                <a:solidFill>
                  <a:srgbClr val="1A294D"/>
                </a:solidFill>
                <a:latin typeface="Microsoft Sans Serif"/>
                <a:cs typeface="Microsoft Sans Serif"/>
              </a:rPr>
              <a:t> </a:t>
            </a:r>
            <a:r>
              <a:rPr lang="en-US" sz="800" b="1" dirty="0">
                <a:solidFill>
                  <a:srgbClr val="1A294D"/>
                </a:solidFill>
                <a:latin typeface="Arial"/>
                <a:cs typeface="Arial"/>
              </a:rPr>
              <a:t>Hired</a:t>
            </a:r>
            <a:r>
              <a:rPr lang="en-US" sz="800" b="1" spc="-15" dirty="0">
                <a:solidFill>
                  <a:srgbClr val="1A294D"/>
                </a:solidFill>
                <a:latin typeface="Arial"/>
                <a:cs typeface="Arial"/>
              </a:rPr>
              <a:t> </a:t>
            </a:r>
            <a:r>
              <a:rPr lang="en-US" sz="800" spc="325" dirty="0">
                <a:solidFill>
                  <a:srgbClr val="1A294D"/>
                </a:solidFill>
                <a:latin typeface="Microsoft Sans Serif"/>
                <a:cs typeface="Microsoft Sans Serif"/>
              </a:rPr>
              <a:t>—</a:t>
            </a:r>
            <a:r>
              <a:rPr lang="en-US" sz="800" dirty="0">
                <a:solidFill>
                  <a:srgbClr val="1A294D"/>
                </a:solidFill>
                <a:latin typeface="Microsoft Sans Serif"/>
                <a:cs typeface="Microsoft Sans Serif"/>
              </a:rPr>
              <a:t> we can create Employee</a:t>
            </a:r>
            <a:r>
              <a:rPr lang="en-US" sz="800" spc="-3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record,</a:t>
            </a:r>
            <a:r>
              <a:rPr lang="en-US" sz="800" spc="-2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carrying</a:t>
            </a:r>
            <a:r>
              <a:rPr lang="en-US" sz="800" spc="-3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over</a:t>
            </a:r>
            <a:r>
              <a:rPr lang="en-US" sz="800" spc="-25" dirty="0">
                <a:solidFill>
                  <a:srgbClr val="1A294D"/>
                </a:solidFill>
                <a:latin typeface="Microsoft Sans Serif"/>
                <a:cs typeface="Microsoft Sans Serif"/>
              </a:rPr>
              <a:t> </a:t>
            </a:r>
            <a:r>
              <a:rPr lang="en-US" sz="800" dirty="0">
                <a:solidFill>
                  <a:srgbClr val="1A294D"/>
                </a:solidFill>
                <a:latin typeface="Microsoft Sans Serif"/>
                <a:cs typeface="Microsoft Sans Serif"/>
              </a:rPr>
              <a:t>CV,</a:t>
            </a:r>
            <a:r>
              <a:rPr lang="en-US" sz="800" spc="-3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skills</a:t>
            </a:r>
            <a:r>
              <a:rPr lang="en-US" sz="800" spc="-2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and</a:t>
            </a:r>
            <a:r>
              <a:rPr lang="en-US" sz="800" spc="-30" dirty="0">
                <a:solidFill>
                  <a:srgbClr val="1A294D"/>
                </a:solidFill>
                <a:latin typeface="Microsoft Sans Serif"/>
                <a:cs typeface="Microsoft Sans Serif"/>
              </a:rPr>
              <a:t> </a:t>
            </a:r>
            <a:r>
              <a:rPr lang="en-US" sz="800" dirty="0">
                <a:solidFill>
                  <a:srgbClr val="1A294D"/>
                </a:solidFill>
                <a:latin typeface="Microsoft Sans Serif"/>
                <a:cs typeface="Microsoft Sans Serif"/>
              </a:rPr>
              <a:t>contact</a:t>
            </a:r>
            <a:r>
              <a:rPr lang="en-US" sz="800" spc="-25" dirty="0">
                <a:solidFill>
                  <a:srgbClr val="1A294D"/>
                </a:solidFill>
                <a:latin typeface="Microsoft Sans Serif"/>
                <a:cs typeface="Microsoft Sans Serif"/>
              </a:rPr>
              <a:t> </a:t>
            </a:r>
            <a:r>
              <a:rPr lang="en-US" sz="800" spc="-10" dirty="0">
                <a:solidFill>
                  <a:srgbClr val="1A294D"/>
                </a:solidFill>
                <a:latin typeface="Microsoft Sans Serif"/>
                <a:cs typeface="Microsoft Sans Serif"/>
              </a:rPr>
              <a:t>details</a:t>
            </a:r>
            <a:r>
              <a:rPr lang="en-US" sz="900" spc="-10" dirty="0">
                <a:solidFill>
                  <a:srgbClr val="1A294D"/>
                </a:solidFill>
                <a:latin typeface="Microsoft Sans Serif"/>
                <a:cs typeface="Microsoft Sans Serif"/>
              </a:rPr>
              <a:t>.</a:t>
            </a:r>
            <a:endParaRPr lang="en-US" sz="900" dirty="0">
              <a:latin typeface="Microsoft Sans Serif"/>
              <a:cs typeface="Microsoft Sans Serif"/>
            </a:endParaRPr>
          </a:p>
          <a:p>
            <a:pPr algn="ctr">
              <a:defRPr sz="1300" b="1">
                <a:solidFill>
                  <a:srgbClr val="3D8949"/>
                </a:solidFill>
              </a:defRPr>
            </a:pPr>
            <a:endParaRPr dirty="0"/>
          </a:p>
        </p:txBody>
      </p:sp>
      <p:sp>
        <p:nvSpPr>
          <p:cNvPr id="51" name="object 10">
            <a:extLst>
              <a:ext uri="{FF2B5EF4-FFF2-40B4-BE49-F238E27FC236}">
                <a16:creationId xmlns:a16="http://schemas.microsoft.com/office/drawing/2014/main" id="{74D0E1A4-3FC2-875A-9840-350BDE068EB2}"/>
              </a:ext>
            </a:extLst>
          </p:cNvPr>
          <p:cNvSpPr txBox="1">
            <a:spLocks/>
          </p:cNvSpPr>
          <p:nvPr/>
        </p:nvSpPr>
        <p:spPr>
          <a:xfrm>
            <a:off x="1372209" y="4568126"/>
            <a:ext cx="1271067" cy="166071"/>
          </a:xfrm>
          <a:prstGeom prst="rect">
            <a:avLst/>
          </a:prstGeom>
        </p:spPr>
        <p:txBody>
          <a:bodyPr vert="horz" wrap="square" lIns="0" tIns="12065" rIns="0" bIns="0" rtlCol="0">
            <a:spAutoFit/>
          </a:bodyPr>
          <a:lstStyle/>
          <a:p>
            <a:pPr marL="12700">
              <a:lnSpc>
                <a:spcPct val="100000"/>
              </a:lnSpc>
              <a:spcBef>
                <a:spcPts val="95"/>
              </a:spcBef>
            </a:pPr>
            <a:r>
              <a:rPr sz="1000" b="1" spc="50" dirty="0">
                <a:solidFill>
                  <a:srgbClr val="13203C"/>
                </a:solidFill>
                <a:latin typeface="Tahoma"/>
                <a:cs typeface="Tahoma"/>
              </a:rPr>
              <a:t>HOW</a:t>
            </a:r>
            <a:r>
              <a:rPr sz="1000" b="1" spc="75" dirty="0">
                <a:solidFill>
                  <a:srgbClr val="13203C"/>
                </a:solidFill>
                <a:latin typeface="Tahoma"/>
                <a:cs typeface="Tahoma"/>
              </a:rPr>
              <a:t> </a:t>
            </a:r>
            <a:r>
              <a:rPr sz="1000" b="1" dirty="0">
                <a:solidFill>
                  <a:srgbClr val="13203C"/>
                </a:solidFill>
                <a:latin typeface="Tahoma"/>
                <a:cs typeface="Tahoma"/>
              </a:rPr>
              <a:t>IT</a:t>
            </a:r>
            <a:r>
              <a:rPr sz="1000" b="1" spc="75" dirty="0">
                <a:solidFill>
                  <a:srgbClr val="13203C"/>
                </a:solidFill>
                <a:latin typeface="Tahoma"/>
                <a:cs typeface="Tahoma"/>
              </a:rPr>
              <a:t> </a:t>
            </a:r>
            <a:r>
              <a:rPr sz="1000" b="1" spc="40" dirty="0">
                <a:solidFill>
                  <a:srgbClr val="13203C"/>
                </a:solidFill>
                <a:latin typeface="Tahoma"/>
                <a:cs typeface="Tahoma"/>
              </a:rPr>
              <a:t>WORKS</a:t>
            </a:r>
            <a:endParaRPr sz="1000" dirty="0">
              <a:latin typeface="Tahoma"/>
              <a:cs typeface="Tahoma"/>
            </a:endParaRPr>
          </a:p>
        </p:txBody>
      </p:sp>
      <p:sp>
        <p:nvSpPr>
          <p:cNvPr id="52" name="Arrow: Up 51">
            <a:extLst>
              <a:ext uri="{FF2B5EF4-FFF2-40B4-BE49-F238E27FC236}">
                <a16:creationId xmlns:a16="http://schemas.microsoft.com/office/drawing/2014/main" id="{91680058-A9A1-6020-128E-C904287D7CA5}"/>
              </a:ext>
            </a:extLst>
          </p:cNvPr>
          <p:cNvSpPr/>
          <p:nvPr/>
        </p:nvSpPr>
        <p:spPr>
          <a:xfrm rot="5400000">
            <a:off x="2090742" y="2876852"/>
            <a:ext cx="107887" cy="35385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4" name="Picture 53">
            <a:extLst>
              <a:ext uri="{FF2B5EF4-FFF2-40B4-BE49-F238E27FC236}">
                <a16:creationId xmlns:a16="http://schemas.microsoft.com/office/drawing/2014/main" id="{5D601916-E31F-1B91-4266-E726B467A10A}"/>
              </a:ext>
            </a:extLst>
          </p:cNvPr>
          <p:cNvPicPr>
            <a:picLocks noChangeAspect="1"/>
          </p:cNvPicPr>
          <p:nvPr/>
        </p:nvPicPr>
        <p:blipFill>
          <a:blip r:embed="rId6"/>
          <a:stretch>
            <a:fillRect/>
          </a:stretch>
        </p:blipFill>
        <p:spPr>
          <a:xfrm>
            <a:off x="4235984" y="2194560"/>
            <a:ext cx="3728773" cy="2151497"/>
          </a:xfrm>
          <a:prstGeom prst="rect">
            <a:avLst/>
          </a:prstGeom>
        </p:spPr>
      </p:pic>
      <p:cxnSp>
        <p:nvCxnSpPr>
          <p:cNvPr id="57" name="Straight Arrow Connector 56">
            <a:extLst>
              <a:ext uri="{FF2B5EF4-FFF2-40B4-BE49-F238E27FC236}">
                <a16:creationId xmlns:a16="http://schemas.microsoft.com/office/drawing/2014/main" id="{D5BAE66F-D20E-84BD-F777-83518B8C2554}"/>
              </a:ext>
            </a:extLst>
          </p:cNvPr>
          <p:cNvCxnSpPr>
            <a:cxnSpLocks/>
            <a:stCxn id="36" idx="1"/>
            <a:endCxn id="38" idx="3"/>
          </p:cNvCxnSpPr>
          <p:nvPr/>
        </p:nvCxnSpPr>
        <p:spPr>
          <a:xfrm flipH="1">
            <a:off x="8200571" y="5716372"/>
            <a:ext cx="266198" cy="0"/>
          </a:xfrm>
          <a:prstGeom prst="straightConnector1">
            <a:avLst/>
          </a:prstGeom>
          <a:ln w="28575">
            <a:solidFill>
              <a:schemeClr val="tx1"/>
            </a:solidFill>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57" y="4790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2512"/>
            <a:ext cx="10972800" cy="502920"/>
          </a:xfrm>
          <a:prstGeom prst="rect">
            <a:avLst/>
          </a:prstGeom>
          <a:noFill/>
        </p:spPr>
        <p:txBody>
          <a:bodyPr wrap="none">
            <a:spAutoFit/>
          </a:bodyPr>
          <a:lstStyle/>
          <a:p>
            <a:pPr>
              <a:defRPr sz="2500" b="1">
                <a:solidFill>
                  <a:srgbClr val="16375E"/>
                </a:solidFill>
              </a:defRPr>
            </a:pPr>
            <a:r>
              <a:t>3. Department Check</a:t>
            </a:r>
          </a:p>
        </p:txBody>
      </p:sp>
      <p:sp>
        <p:nvSpPr>
          <p:cNvPr id="4" name="Rounded Rectangle 3"/>
          <p:cNvSpPr/>
          <p:nvPr/>
        </p:nvSpPr>
        <p:spPr>
          <a:xfrm>
            <a:off x="365760" y="1143000"/>
            <a:ext cx="2227478" cy="685800"/>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t>Check Department</a:t>
            </a:r>
          </a:p>
          <a:p>
            <a:pPr>
              <a:defRPr sz="950">
                <a:solidFill>
                  <a:srgbClr val="2D343C"/>
                </a:solidFill>
              </a:defRPr>
            </a:pPr>
            <a:r>
              <a:t>Is required department available?</a:t>
            </a:r>
          </a:p>
        </p:txBody>
      </p:sp>
      <p:cxnSp>
        <p:nvCxnSpPr>
          <p:cNvPr id="5" name="Connector 4"/>
          <p:cNvCxnSpPr/>
          <p:nvPr/>
        </p:nvCxnSpPr>
        <p:spPr>
          <a:xfrm>
            <a:off x="2593238" y="1481328"/>
            <a:ext cx="73152" cy="0"/>
          </a:xfrm>
          <a:prstGeom prst="line">
            <a:avLst/>
          </a:prstGeom>
          <a:ln>
            <a:solidFill>
              <a:srgbClr val="3D8949"/>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666390" y="1143000"/>
            <a:ext cx="2227478" cy="685800"/>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rPr dirty="0"/>
              <a:t>YES</a:t>
            </a:r>
          </a:p>
          <a:p>
            <a:pPr>
              <a:defRPr sz="950">
                <a:solidFill>
                  <a:srgbClr val="2D343C"/>
                </a:solidFill>
              </a:defRPr>
            </a:pPr>
            <a:r>
              <a:rPr dirty="0"/>
              <a:t>Use existing department</a:t>
            </a:r>
            <a:r>
              <a:rPr lang="en-US" dirty="0"/>
              <a:t>,</a:t>
            </a:r>
            <a:br>
              <a:rPr lang="en-US" dirty="0"/>
            </a:br>
            <a:r>
              <a:rPr lang="en-US" dirty="0"/>
              <a:t>Follow the </a:t>
            </a:r>
            <a:r>
              <a:rPr lang="en-IN" dirty="0"/>
              <a:t>Recruitment step </a:t>
            </a:r>
            <a:endParaRPr dirty="0"/>
          </a:p>
        </p:txBody>
      </p:sp>
      <p:cxnSp>
        <p:nvCxnSpPr>
          <p:cNvPr id="7" name="Connector 6"/>
          <p:cNvCxnSpPr/>
          <p:nvPr/>
        </p:nvCxnSpPr>
        <p:spPr>
          <a:xfrm>
            <a:off x="4893868" y="1481328"/>
            <a:ext cx="73152" cy="0"/>
          </a:xfrm>
          <a:prstGeom prst="line">
            <a:avLst/>
          </a:prstGeom>
          <a:ln>
            <a:solidFill>
              <a:srgbClr val="3D8949"/>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967020" y="1143000"/>
            <a:ext cx="2227478" cy="685800"/>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t>NO</a:t>
            </a:r>
          </a:p>
          <a:p>
            <a:pPr>
              <a:defRPr sz="950">
                <a:solidFill>
                  <a:srgbClr val="2D343C"/>
                </a:solidFill>
              </a:defRPr>
            </a:pPr>
            <a:r>
              <a:t>Create department</a:t>
            </a:r>
          </a:p>
        </p:txBody>
      </p:sp>
      <p:cxnSp>
        <p:nvCxnSpPr>
          <p:cNvPr id="9" name="Connector 8"/>
          <p:cNvCxnSpPr/>
          <p:nvPr/>
        </p:nvCxnSpPr>
        <p:spPr>
          <a:xfrm>
            <a:off x="7194499" y="1481328"/>
            <a:ext cx="73152" cy="0"/>
          </a:xfrm>
          <a:prstGeom prst="line">
            <a:avLst/>
          </a:prstGeom>
          <a:ln>
            <a:solidFill>
              <a:srgbClr val="3D8949"/>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267651" y="1143000"/>
            <a:ext cx="2227478" cy="685800"/>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t>Save</a:t>
            </a:r>
          </a:p>
          <a:p>
            <a:pPr>
              <a:defRPr sz="950">
                <a:solidFill>
                  <a:srgbClr val="2D343C"/>
                </a:solidFill>
              </a:defRPr>
            </a:pPr>
            <a:r>
              <a:t>Department ready</a:t>
            </a:r>
          </a:p>
        </p:txBody>
      </p:sp>
      <p:cxnSp>
        <p:nvCxnSpPr>
          <p:cNvPr id="11" name="Connector 10"/>
          <p:cNvCxnSpPr/>
          <p:nvPr/>
        </p:nvCxnSpPr>
        <p:spPr>
          <a:xfrm>
            <a:off x="9495129" y="1481328"/>
            <a:ext cx="73152" cy="0"/>
          </a:xfrm>
          <a:prstGeom prst="line">
            <a:avLst/>
          </a:prstGeom>
          <a:ln>
            <a:solidFill>
              <a:srgbClr val="3D8949"/>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568281" y="1143000"/>
            <a:ext cx="2227478" cy="685800"/>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rPr dirty="0"/>
              <a:t>Next</a:t>
            </a:r>
          </a:p>
          <a:p>
            <a:pPr>
              <a:defRPr sz="950">
                <a:solidFill>
                  <a:srgbClr val="2D343C"/>
                </a:solidFill>
              </a:defRPr>
            </a:pPr>
            <a:r>
              <a:rPr dirty="0"/>
              <a:t>Create employee</a:t>
            </a:r>
            <a:r>
              <a:rPr lang="en-US" dirty="0"/>
              <a:t> and follow </a:t>
            </a:r>
            <a:r>
              <a:rPr lang="en-IN" dirty="0"/>
              <a:t>Recruitment steps</a:t>
            </a:r>
            <a:endParaRPr dirty="0"/>
          </a:p>
        </p:txBody>
      </p:sp>
      <p:sp>
        <p:nvSpPr>
          <p:cNvPr id="13" name="Rounded Rectangle 12"/>
          <p:cNvSpPr/>
          <p:nvPr/>
        </p:nvSpPr>
        <p:spPr>
          <a:xfrm>
            <a:off x="171844" y="5029201"/>
            <a:ext cx="2227477" cy="1426463"/>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rPr dirty="0"/>
              <a:t>If Existing</a:t>
            </a:r>
          </a:p>
          <a:p>
            <a:pPr>
              <a:defRPr sz="950">
                <a:solidFill>
                  <a:srgbClr val="2D343C"/>
                </a:solidFill>
              </a:defRPr>
            </a:pPr>
            <a:r>
              <a:rPr dirty="0"/>
              <a:t>Select department</a:t>
            </a:r>
          </a:p>
          <a:p>
            <a:pPr>
              <a:defRPr sz="950">
                <a:solidFill>
                  <a:srgbClr val="2D343C"/>
                </a:solidFill>
              </a:defRPr>
            </a:pPr>
            <a:r>
              <a:rPr dirty="0"/>
              <a:t>Continue directly</a:t>
            </a:r>
          </a:p>
        </p:txBody>
      </p:sp>
      <p:sp>
        <p:nvSpPr>
          <p:cNvPr id="14" name="Rounded Rectangle 13"/>
          <p:cNvSpPr/>
          <p:nvPr/>
        </p:nvSpPr>
        <p:spPr>
          <a:xfrm>
            <a:off x="3117557" y="5046317"/>
            <a:ext cx="2493889" cy="1426463"/>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t>If Missing</a:t>
            </a:r>
          </a:p>
          <a:p>
            <a:pPr>
              <a:defRPr sz="950">
                <a:solidFill>
                  <a:srgbClr val="2D343C"/>
                </a:solidFill>
              </a:defRPr>
            </a:pPr>
            <a:r>
              <a:t>Departments → New</a:t>
            </a:r>
          </a:p>
          <a:p>
            <a:pPr>
              <a:defRPr sz="950">
                <a:solidFill>
                  <a:srgbClr val="2D343C"/>
                </a:solidFill>
              </a:defRPr>
            </a:pPr>
            <a:r>
              <a:t>Name / manager / details</a:t>
            </a:r>
          </a:p>
          <a:p>
            <a:pPr>
              <a:defRPr sz="950">
                <a:solidFill>
                  <a:srgbClr val="2D343C"/>
                </a:solidFill>
              </a:defRPr>
            </a:pPr>
            <a:r>
              <a:t>Save</a:t>
            </a:r>
          </a:p>
        </p:txBody>
      </p:sp>
      <p:sp>
        <p:nvSpPr>
          <p:cNvPr id="15" name="TextBox 14"/>
          <p:cNvSpPr txBox="1"/>
          <p:nvPr/>
        </p:nvSpPr>
        <p:spPr>
          <a:xfrm>
            <a:off x="548640" y="6565392"/>
            <a:ext cx="10972800" cy="182880"/>
          </a:xfrm>
          <a:prstGeom prst="rect">
            <a:avLst/>
          </a:prstGeom>
          <a:noFill/>
        </p:spPr>
        <p:txBody>
          <a:bodyPr wrap="none">
            <a:spAutoFit/>
          </a:bodyPr>
          <a:lstStyle/>
          <a:p>
            <a:pPr>
              <a:defRPr sz="800">
                <a:solidFill>
                  <a:srgbClr val="697078"/>
                </a:solidFill>
              </a:defRPr>
            </a:pPr>
            <a:r>
              <a:t>HR Process • 4</a:t>
            </a:r>
          </a:p>
        </p:txBody>
      </p:sp>
      <p:pic>
        <p:nvPicPr>
          <p:cNvPr id="17" name="Picture 16">
            <a:extLst>
              <a:ext uri="{FF2B5EF4-FFF2-40B4-BE49-F238E27FC236}">
                <a16:creationId xmlns:a16="http://schemas.microsoft.com/office/drawing/2014/main" id="{D73B0D92-5991-1416-2942-6A4898EECB12}"/>
              </a:ext>
            </a:extLst>
          </p:cNvPr>
          <p:cNvPicPr>
            <a:picLocks noChangeAspect="1"/>
          </p:cNvPicPr>
          <p:nvPr/>
        </p:nvPicPr>
        <p:blipFill>
          <a:blip r:embed="rId2"/>
          <a:stretch>
            <a:fillRect/>
          </a:stretch>
        </p:blipFill>
        <p:spPr>
          <a:xfrm>
            <a:off x="365760" y="2593987"/>
            <a:ext cx="3665474" cy="2154658"/>
          </a:xfrm>
          <a:prstGeom prst="rect">
            <a:avLst/>
          </a:prstGeom>
        </p:spPr>
      </p:pic>
      <p:pic>
        <p:nvPicPr>
          <p:cNvPr id="18" name="Picture 17">
            <a:extLst>
              <a:ext uri="{FF2B5EF4-FFF2-40B4-BE49-F238E27FC236}">
                <a16:creationId xmlns:a16="http://schemas.microsoft.com/office/drawing/2014/main" id="{5A43C481-B59A-D7D8-71AC-6ABA24B96B5B}"/>
              </a:ext>
            </a:extLst>
          </p:cNvPr>
          <p:cNvPicPr>
            <a:picLocks noChangeAspect="1"/>
          </p:cNvPicPr>
          <p:nvPr/>
        </p:nvPicPr>
        <p:blipFill>
          <a:blip r:embed="rId3"/>
          <a:stretch>
            <a:fillRect/>
          </a:stretch>
        </p:blipFill>
        <p:spPr>
          <a:xfrm>
            <a:off x="4644469" y="2605778"/>
            <a:ext cx="2659772" cy="2142867"/>
          </a:xfrm>
          <a:prstGeom prst="rect">
            <a:avLst/>
          </a:prstGeom>
        </p:spPr>
      </p:pic>
      <p:pic>
        <p:nvPicPr>
          <p:cNvPr id="20" name="Picture 19">
            <a:extLst>
              <a:ext uri="{FF2B5EF4-FFF2-40B4-BE49-F238E27FC236}">
                <a16:creationId xmlns:a16="http://schemas.microsoft.com/office/drawing/2014/main" id="{3D88BA5B-E551-43B7-C919-73BB54ADF091}"/>
              </a:ext>
            </a:extLst>
          </p:cNvPr>
          <p:cNvPicPr>
            <a:picLocks noChangeAspect="1"/>
          </p:cNvPicPr>
          <p:nvPr/>
        </p:nvPicPr>
        <p:blipFill>
          <a:blip r:embed="rId2"/>
          <a:stretch>
            <a:fillRect/>
          </a:stretch>
        </p:blipFill>
        <p:spPr>
          <a:xfrm>
            <a:off x="8006021" y="2532888"/>
            <a:ext cx="3665474" cy="2154658"/>
          </a:xfrm>
          <a:prstGeom prst="rect">
            <a:avLst/>
          </a:prstGeom>
        </p:spPr>
      </p:pic>
      <p:sp>
        <p:nvSpPr>
          <p:cNvPr id="21" name="Arrow: Up 20">
            <a:extLst>
              <a:ext uri="{FF2B5EF4-FFF2-40B4-BE49-F238E27FC236}">
                <a16:creationId xmlns:a16="http://schemas.microsoft.com/office/drawing/2014/main" id="{580E09CB-773A-9269-CC4A-C03FF148BA06}"/>
              </a:ext>
            </a:extLst>
          </p:cNvPr>
          <p:cNvSpPr/>
          <p:nvPr/>
        </p:nvSpPr>
        <p:spPr>
          <a:xfrm>
            <a:off x="411480" y="2986056"/>
            <a:ext cx="137160" cy="388815"/>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ABADFA9D-057C-0E27-77BB-471A0438EC0F}"/>
              </a:ext>
            </a:extLst>
          </p:cNvPr>
          <p:cNvCxnSpPr>
            <a:cxnSpLocks/>
          </p:cNvCxnSpPr>
          <p:nvPr/>
        </p:nvCxnSpPr>
        <p:spPr>
          <a:xfrm>
            <a:off x="4047785" y="3608636"/>
            <a:ext cx="560094" cy="3162"/>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CA2ADDF0-3664-20DB-1B27-05358FD95DE1}"/>
              </a:ext>
            </a:extLst>
          </p:cNvPr>
          <p:cNvCxnSpPr>
            <a:cxnSpLocks/>
          </p:cNvCxnSpPr>
          <p:nvPr/>
        </p:nvCxnSpPr>
        <p:spPr>
          <a:xfrm>
            <a:off x="7345805" y="3673748"/>
            <a:ext cx="594626"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26" name="Arrow: Up 25">
            <a:extLst>
              <a:ext uri="{FF2B5EF4-FFF2-40B4-BE49-F238E27FC236}">
                <a16:creationId xmlns:a16="http://schemas.microsoft.com/office/drawing/2014/main" id="{FA5B0791-C66F-BD4D-81CB-0AFBC6FF1F11}"/>
              </a:ext>
            </a:extLst>
          </p:cNvPr>
          <p:cNvSpPr/>
          <p:nvPr/>
        </p:nvSpPr>
        <p:spPr>
          <a:xfrm>
            <a:off x="8754345" y="3476908"/>
            <a:ext cx="137160" cy="388815"/>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28" name="Connector: Elbow 27">
            <a:extLst>
              <a:ext uri="{FF2B5EF4-FFF2-40B4-BE49-F238E27FC236}">
                <a16:creationId xmlns:a16="http://schemas.microsoft.com/office/drawing/2014/main" id="{D1C06572-C515-AB7E-2AB7-20741E273D6F}"/>
              </a:ext>
            </a:extLst>
          </p:cNvPr>
          <p:cNvCxnSpPr>
            <a:stCxn id="8" idx="2"/>
          </p:cNvCxnSpPr>
          <p:nvPr/>
        </p:nvCxnSpPr>
        <p:spPr>
          <a:xfrm rot="5400000">
            <a:off x="4036842" y="97497"/>
            <a:ext cx="312615" cy="3775221"/>
          </a:xfrm>
          <a:prstGeom prst="bentConnector2">
            <a:avLst/>
          </a:prstGeom>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1ECEF018-F4D1-5739-A5D7-54B78419A9F5}"/>
              </a:ext>
            </a:extLst>
          </p:cNvPr>
          <p:cNvCxnSpPr/>
          <p:nvPr/>
        </p:nvCxnSpPr>
        <p:spPr>
          <a:xfrm>
            <a:off x="2305539" y="2141415"/>
            <a:ext cx="0" cy="4525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74320"/>
            <a:ext cx="10972800" cy="502920"/>
          </a:xfrm>
          <a:prstGeom prst="rect">
            <a:avLst/>
          </a:prstGeom>
          <a:noFill/>
        </p:spPr>
        <p:txBody>
          <a:bodyPr wrap="none">
            <a:spAutoFit/>
          </a:bodyPr>
          <a:lstStyle/>
          <a:p>
            <a:pPr>
              <a:defRPr sz="2500" b="1">
                <a:solidFill>
                  <a:srgbClr val="16375E"/>
                </a:solidFill>
              </a:defRPr>
            </a:pPr>
            <a:r>
              <a:t>4. Employee Creation</a:t>
            </a:r>
          </a:p>
        </p:txBody>
      </p:sp>
      <p:sp>
        <p:nvSpPr>
          <p:cNvPr id="4" name="Rounded Rectangle 3"/>
          <p:cNvSpPr/>
          <p:nvPr/>
        </p:nvSpPr>
        <p:spPr>
          <a:xfrm>
            <a:off x="365760" y="805882"/>
            <a:ext cx="1570155"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rPr dirty="0"/>
              <a:t>Employees</a:t>
            </a:r>
          </a:p>
          <a:p>
            <a:pPr>
              <a:defRPr sz="950">
                <a:solidFill>
                  <a:srgbClr val="2D343C"/>
                </a:solidFill>
              </a:defRPr>
            </a:pPr>
            <a:r>
              <a:rPr dirty="0"/>
              <a:t>Open Employees</a:t>
            </a:r>
          </a:p>
        </p:txBody>
      </p:sp>
      <p:cxnSp>
        <p:nvCxnSpPr>
          <p:cNvPr id="5" name="Connector 4"/>
          <p:cNvCxnSpPr/>
          <p:nvPr/>
        </p:nvCxnSpPr>
        <p:spPr>
          <a:xfrm>
            <a:off x="1935915" y="1144210"/>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009067" y="805882"/>
            <a:ext cx="1570155"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New</a:t>
            </a:r>
          </a:p>
          <a:p>
            <a:pPr>
              <a:defRPr sz="950">
                <a:solidFill>
                  <a:srgbClr val="2D343C"/>
                </a:solidFill>
              </a:defRPr>
            </a:pPr>
            <a:r>
              <a:t>Create record</a:t>
            </a:r>
          </a:p>
        </p:txBody>
      </p:sp>
      <p:cxnSp>
        <p:nvCxnSpPr>
          <p:cNvPr id="7" name="Connector 6"/>
          <p:cNvCxnSpPr/>
          <p:nvPr/>
        </p:nvCxnSpPr>
        <p:spPr>
          <a:xfrm>
            <a:off x="3579222" y="1144210"/>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652374" y="805882"/>
            <a:ext cx="1570155"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Name</a:t>
            </a:r>
          </a:p>
          <a:p>
            <a:pPr>
              <a:defRPr sz="950">
                <a:solidFill>
                  <a:srgbClr val="2D343C"/>
                </a:solidFill>
              </a:defRPr>
            </a:pPr>
            <a:r>
              <a:t>Employee name</a:t>
            </a:r>
          </a:p>
        </p:txBody>
      </p:sp>
      <p:cxnSp>
        <p:nvCxnSpPr>
          <p:cNvPr id="9" name="Connector 8"/>
          <p:cNvCxnSpPr/>
          <p:nvPr/>
        </p:nvCxnSpPr>
        <p:spPr>
          <a:xfrm>
            <a:off x="5222530" y="1144210"/>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95682" y="805882"/>
            <a:ext cx="1570155"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Department</a:t>
            </a:r>
          </a:p>
          <a:p>
            <a:pPr>
              <a:defRPr sz="950">
                <a:solidFill>
                  <a:srgbClr val="2D343C"/>
                </a:solidFill>
              </a:defRPr>
            </a:pPr>
            <a:r>
              <a:t>Select department</a:t>
            </a:r>
          </a:p>
        </p:txBody>
      </p:sp>
      <p:cxnSp>
        <p:nvCxnSpPr>
          <p:cNvPr id="11" name="Connector 10"/>
          <p:cNvCxnSpPr/>
          <p:nvPr/>
        </p:nvCxnSpPr>
        <p:spPr>
          <a:xfrm>
            <a:off x="6865837" y="1144210"/>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938989" y="805882"/>
            <a:ext cx="1570155"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Job</a:t>
            </a:r>
          </a:p>
          <a:p>
            <a:pPr>
              <a:defRPr sz="950">
                <a:solidFill>
                  <a:srgbClr val="2D343C"/>
                </a:solidFill>
              </a:defRPr>
            </a:pPr>
            <a:r>
              <a:t>Select position</a:t>
            </a:r>
          </a:p>
        </p:txBody>
      </p:sp>
      <p:cxnSp>
        <p:nvCxnSpPr>
          <p:cNvPr id="13" name="Connector 12"/>
          <p:cNvCxnSpPr/>
          <p:nvPr/>
        </p:nvCxnSpPr>
        <p:spPr>
          <a:xfrm>
            <a:off x="8509145" y="1144210"/>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582297" y="805882"/>
            <a:ext cx="1570155"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Joining Date</a:t>
            </a:r>
          </a:p>
          <a:p>
            <a:pPr>
              <a:defRPr sz="950">
                <a:solidFill>
                  <a:srgbClr val="2D343C"/>
                </a:solidFill>
              </a:defRPr>
            </a:pPr>
            <a:r>
              <a:t>Enter date</a:t>
            </a:r>
          </a:p>
        </p:txBody>
      </p:sp>
      <p:cxnSp>
        <p:nvCxnSpPr>
          <p:cNvPr id="15" name="Connector 14"/>
          <p:cNvCxnSpPr/>
          <p:nvPr/>
        </p:nvCxnSpPr>
        <p:spPr>
          <a:xfrm>
            <a:off x="10152452" y="1144210"/>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225604" y="805882"/>
            <a:ext cx="1570155"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Save</a:t>
            </a:r>
          </a:p>
          <a:p>
            <a:pPr>
              <a:defRPr sz="950">
                <a:solidFill>
                  <a:srgbClr val="2D343C"/>
                </a:solidFill>
              </a:defRPr>
            </a:pPr>
            <a:r>
              <a:t>Employee created</a:t>
            </a:r>
          </a:p>
        </p:txBody>
      </p:sp>
      <p:sp>
        <p:nvSpPr>
          <p:cNvPr id="17" name="Rounded Rectangle 16"/>
          <p:cNvSpPr/>
          <p:nvPr/>
        </p:nvSpPr>
        <p:spPr>
          <a:xfrm>
            <a:off x="62913" y="5784518"/>
            <a:ext cx="1257886" cy="752231"/>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Personal</a:t>
            </a:r>
          </a:p>
          <a:p>
            <a:pPr>
              <a:defRPr sz="950">
                <a:solidFill>
                  <a:srgbClr val="2D343C"/>
                </a:solidFill>
              </a:defRPr>
            </a:pPr>
            <a:r>
              <a:t>Basic details</a:t>
            </a:r>
          </a:p>
          <a:p>
            <a:pPr>
              <a:defRPr sz="950">
                <a:solidFill>
                  <a:srgbClr val="2D343C"/>
                </a:solidFill>
              </a:defRPr>
            </a:pPr>
            <a:r>
              <a:t>Family / emergency</a:t>
            </a:r>
          </a:p>
          <a:p>
            <a:pPr>
              <a:defRPr sz="950">
                <a:solidFill>
                  <a:srgbClr val="2D343C"/>
                </a:solidFill>
              </a:defRPr>
            </a:pPr>
            <a:r>
              <a:t>Education / other</a:t>
            </a:r>
          </a:p>
        </p:txBody>
      </p:sp>
      <p:sp>
        <p:nvSpPr>
          <p:cNvPr id="18" name="Rounded Rectangle 17"/>
          <p:cNvSpPr/>
          <p:nvPr/>
        </p:nvSpPr>
        <p:spPr>
          <a:xfrm>
            <a:off x="1469805" y="5784517"/>
            <a:ext cx="1257886" cy="752231"/>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rPr dirty="0"/>
              <a:t>Bank / ID</a:t>
            </a:r>
          </a:p>
          <a:p>
            <a:pPr>
              <a:defRPr sz="950">
                <a:solidFill>
                  <a:srgbClr val="2D343C"/>
                </a:solidFill>
              </a:defRPr>
            </a:pPr>
            <a:r>
              <a:rPr dirty="0"/>
              <a:t>Bank account</a:t>
            </a:r>
          </a:p>
          <a:p>
            <a:pPr>
              <a:defRPr sz="950">
                <a:solidFill>
                  <a:srgbClr val="2D343C"/>
                </a:solidFill>
              </a:defRPr>
            </a:pPr>
            <a:r>
              <a:rPr dirty="0"/>
              <a:t>IFSC</a:t>
            </a:r>
          </a:p>
          <a:p>
            <a:pPr>
              <a:defRPr sz="950">
                <a:solidFill>
                  <a:srgbClr val="2D343C"/>
                </a:solidFill>
              </a:defRPr>
            </a:pPr>
            <a:r>
              <a:rPr dirty="0"/>
              <a:t>Identification</a:t>
            </a:r>
          </a:p>
          <a:p>
            <a:pPr>
              <a:defRPr sz="950">
                <a:solidFill>
                  <a:srgbClr val="2D343C"/>
                </a:solidFill>
              </a:defRPr>
            </a:pPr>
            <a:r>
              <a:rPr dirty="0"/>
              <a:t>Attachments</a:t>
            </a:r>
          </a:p>
        </p:txBody>
      </p:sp>
      <p:sp>
        <p:nvSpPr>
          <p:cNvPr id="19" name="Rounded Rectangle 18"/>
          <p:cNvSpPr/>
          <p:nvPr/>
        </p:nvSpPr>
        <p:spPr>
          <a:xfrm>
            <a:off x="2911436" y="5784518"/>
            <a:ext cx="1408723" cy="752232"/>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rPr dirty="0"/>
              <a:t>Result</a:t>
            </a:r>
          </a:p>
          <a:p>
            <a:pPr>
              <a:defRPr sz="950">
                <a:solidFill>
                  <a:srgbClr val="2D343C"/>
                </a:solidFill>
              </a:defRPr>
            </a:pPr>
            <a:r>
              <a:rPr dirty="0"/>
              <a:t>Employee ready for contract</a:t>
            </a:r>
          </a:p>
          <a:p>
            <a:pPr>
              <a:defRPr sz="950">
                <a:solidFill>
                  <a:srgbClr val="2D343C"/>
                </a:solidFill>
              </a:defRPr>
            </a:pPr>
            <a:r>
              <a:rPr dirty="0"/>
              <a:t>HR operations can start</a:t>
            </a:r>
          </a:p>
        </p:txBody>
      </p:sp>
      <p:sp>
        <p:nvSpPr>
          <p:cNvPr id="20" name="TextBox 19"/>
          <p:cNvSpPr txBox="1"/>
          <p:nvPr/>
        </p:nvSpPr>
        <p:spPr>
          <a:xfrm>
            <a:off x="548640" y="6565392"/>
            <a:ext cx="10972800" cy="182880"/>
          </a:xfrm>
          <a:prstGeom prst="rect">
            <a:avLst/>
          </a:prstGeom>
          <a:noFill/>
        </p:spPr>
        <p:txBody>
          <a:bodyPr wrap="none">
            <a:spAutoFit/>
          </a:bodyPr>
          <a:lstStyle/>
          <a:p>
            <a:pPr>
              <a:defRPr sz="800">
                <a:solidFill>
                  <a:srgbClr val="697078"/>
                </a:solidFill>
              </a:defRPr>
            </a:pPr>
            <a:r>
              <a:t>HR Process • 5</a:t>
            </a:r>
          </a:p>
        </p:txBody>
      </p:sp>
      <p:pic>
        <p:nvPicPr>
          <p:cNvPr id="22" name="Picture 21">
            <a:extLst>
              <a:ext uri="{FF2B5EF4-FFF2-40B4-BE49-F238E27FC236}">
                <a16:creationId xmlns:a16="http://schemas.microsoft.com/office/drawing/2014/main" id="{48C356B2-7C99-5AB5-2F49-6BD25D9D94AB}"/>
              </a:ext>
            </a:extLst>
          </p:cNvPr>
          <p:cNvPicPr>
            <a:picLocks noChangeAspect="1"/>
          </p:cNvPicPr>
          <p:nvPr/>
        </p:nvPicPr>
        <p:blipFill>
          <a:blip r:embed="rId2"/>
          <a:stretch>
            <a:fillRect/>
          </a:stretch>
        </p:blipFill>
        <p:spPr>
          <a:xfrm>
            <a:off x="258934" y="1830010"/>
            <a:ext cx="5316795" cy="2647976"/>
          </a:xfrm>
          <a:prstGeom prst="rect">
            <a:avLst/>
          </a:prstGeom>
        </p:spPr>
      </p:pic>
      <p:pic>
        <p:nvPicPr>
          <p:cNvPr id="24" name="Picture 23">
            <a:extLst>
              <a:ext uri="{FF2B5EF4-FFF2-40B4-BE49-F238E27FC236}">
                <a16:creationId xmlns:a16="http://schemas.microsoft.com/office/drawing/2014/main" id="{E99F1C38-DF19-C167-ECE8-43A404509236}"/>
              </a:ext>
            </a:extLst>
          </p:cNvPr>
          <p:cNvPicPr>
            <a:picLocks noChangeAspect="1"/>
          </p:cNvPicPr>
          <p:nvPr/>
        </p:nvPicPr>
        <p:blipFill>
          <a:blip r:embed="rId3"/>
          <a:stretch>
            <a:fillRect/>
          </a:stretch>
        </p:blipFill>
        <p:spPr>
          <a:xfrm>
            <a:off x="6293225" y="1812098"/>
            <a:ext cx="4761686" cy="2644814"/>
          </a:xfrm>
          <a:prstGeom prst="rect">
            <a:avLst/>
          </a:prstGeom>
        </p:spPr>
      </p:pic>
      <p:pic>
        <p:nvPicPr>
          <p:cNvPr id="26" name="Picture 25">
            <a:extLst>
              <a:ext uri="{FF2B5EF4-FFF2-40B4-BE49-F238E27FC236}">
                <a16:creationId xmlns:a16="http://schemas.microsoft.com/office/drawing/2014/main" id="{E4A2BE1D-8079-083F-DA50-01CEA446C41D}"/>
              </a:ext>
            </a:extLst>
          </p:cNvPr>
          <p:cNvPicPr>
            <a:picLocks noChangeAspect="1"/>
          </p:cNvPicPr>
          <p:nvPr/>
        </p:nvPicPr>
        <p:blipFill>
          <a:blip r:embed="rId4"/>
          <a:stretch>
            <a:fillRect/>
          </a:stretch>
        </p:blipFill>
        <p:spPr>
          <a:xfrm>
            <a:off x="5800166" y="4673874"/>
            <a:ext cx="4727726" cy="2093264"/>
          </a:xfrm>
          <a:prstGeom prst="rect">
            <a:avLst/>
          </a:prstGeom>
        </p:spPr>
      </p:pic>
      <p:cxnSp>
        <p:nvCxnSpPr>
          <p:cNvPr id="27" name="Straight Arrow Connector 26">
            <a:extLst>
              <a:ext uri="{FF2B5EF4-FFF2-40B4-BE49-F238E27FC236}">
                <a16:creationId xmlns:a16="http://schemas.microsoft.com/office/drawing/2014/main" id="{7F54CBA6-C539-5B03-365A-3E08C670F7B9}"/>
              </a:ext>
            </a:extLst>
          </p:cNvPr>
          <p:cNvCxnSpPr>
            <a:cxnSpLocks/>
          </p:cNvCxnSpPr>
          <p:nvPr/>
        </p:nvCxnSpPr>
        <p:spPr>
          <a:xfrm>
            <a:off x="5627195" y="3055233"/>
            <a:ext cx="560094" cy="3162"/>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0D027B20-6BAE-95D7-C34C-35C865AE712D}"/>
              </a:ext>
            </a:extLst>
          </p:cNvPr>
          <p:cNvCxnSpPr>
            <a:cxnSpLocks/>
          </p:cNvCxnSpPr>
          <p:nvPr/>
        </p:nvCxnSpPr>
        <p:spPr>
          <a:xfrm flipH="1">
            <a:off x="10609594" y="5626940"/>
            <a:ext cx="91184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Connector: Elbow 32">
            <a:extLst>
              <a:ext uri="{FF2B5EF4-FFF2-40B4-BE49-F238E27FC236}">
                <a16:creationId xmlns:a16="http://schemas.microsoft.com/office/drawing/2014/main" id="{35794758-3755-D3DD-0D8B-1C04851FEA2F}"/>
              </a:ext>
            </a:extLst>
          </p:cNvPr>
          <p:cNvCxnSpPr>
            <a:stCxn id="24" idx="3"/>
          </p:cNvCxnSpPr>
          <p:nvPr/>
        </p:nvCxnSpPr>
        <p:spPr>
          <a:xfrm>
            <a:off x="11054911" y="3134505"/>
            <a:ext cx="466529" cy="2492435"/>
          </a:xfrm>
          <a:prstGeom prst="bentConnector2">
            <a:avLst/>
          </a:prstGeom>
        </p:spPr>
        <p:style>
          <a:lnRef idx="2">
            <a:schemeClr val="dk1"/>
          </a:lnRef>
          <a:fillRef idx="0">
            <a:schemeClr val="dk1"/>
          </a:fillRef>
          <a:effectRef idx="1">
            <a:schemeClr val="dk1"/>
          </a:effectRef>
          <a:fontRef idx="minor">
            <a:schemeClr val="tx1"/>
          </a:fontRef>
        </p:style>
      </p:cxnSp>
      <p:sp>
        <p:nvSpPr>
          <p:cNvPr id="35" name="Arrow: Up 34">
            <a:extLst>
              <a:ext uri="{FF2B5EF4-FFF2-40B4-BE49-F238E27FC236}">
                <a16:creationId xmlns:a16="http://schemas.microsoft.com/office/drawing/2014/main" id="{EB2CAB99-8275-ABCA-C20D-A693CDA4FA0E}"/>
              </a:ext>
            </a:extLst>
          </p:cNvPr>
          <p:cNvSpPr/>
          <p:nvPr/>
        </p:nvSpPr>
        <p:spPr>
          <a:xfrm>
            <a:off x="258934" y="2177481"/>
            <a:ext cx="243986" cy="87775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9571" y="175439"/>
            <a:ext cx="10972800" cy="502920"/>
          </a:xfrm>
          <a:prstGeom prst="rect">
            <a:avLst/>
          </a:prstGeom>
          <a:noFill/>
        </p:spPr>
        <p:txBody>
          <a:bodyPr wrap="none">
            <a:spAutoFit/>
          </a:bodyPr>
          <a:lstStyle/>
          <a:p>
            <a:pPr>
              <a:defRPr sz="2500" b="1">
                <a:solidFill>
                  <a:srgbClr val="16375E"/>
                </a:solidFill>
              </a:defRPr>
            </a:pPr>
            <a:r>
              <a:rPr dirty="0"/>
              <a:t>5. Employee Contract</a:t>
            </a:r>
          </a:p>
        </p:txBody>
      </p:sp>
      <p:sp>
        <p:nvSpPr>
          <p:cNvPr id="4" name="Rounded Rectangle 3"/>
          <p:cNvSpPr/>
          <p:nvPr/>
        </p:nvSpPr>
        <p:spPr>
          <a:xfrm>
            <a:off x="159571"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Employee</a:t>
            </a:r>
          </a:p>
          <a:p>
            <a:pPr>
              <a:defRPr sz="950">
                <a:solidFill>
                  <a:srgbClr val="2D343C"/>
                </a:solidFill>
              </a:defRPr>
            </a:pPr>
            <a:r>
              <a:t>Open record</a:t>
            </a:r>
          </a:p>
        </p:txBody>
      </p:sp>
      <p:cxnSp>
        <p:nvCxnSpPr>
          <p:cNvPr id="5" name="Connector 4"/>
          <p:cNvCxnSpPr/>
          <p:nvPr/>
        </p:nvCxnSpPr>
        <p:spPr>
          <a:xfrm>
            <a:off x="1236734" y="1138428"/>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309886"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Contracts</a:t>
            </a:r>
          </a:p>
          <a:p>
            <a:pPr>
              <a:defRPr sz="950">
                <a:solidFill>
                  <a:srgbClr val="2D343C"/>
                </a:solidFill>
              </a:defRPr>
            </a:pPr>
            <a:r>
              <a:t>Open tab</a:t>
            </a:r>
          </a:p>
        </p:txBody>
      </p:sp>
      <p:cxnSp>
        <p:nvCxnSpPr>
          <p:cNvPr id="7" name="Connector 6"/>
          <p:cNvCxnSpPr/>
          <p:nvPr/>
        </p:nvCxnSpPr>
        <p:spPr>
          <a:xfrm>
            <a:off x="2387049" y="1138428"/>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60201"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New</a:t>
            </a:r>
          </a:p>
          <a:p>
            <a:pPr>
              <a:defRPr sz="950">
                <a:solidFill>
                  <a:srgbClr val="2D343C"/>
                </a:solidFill>
              </a:defRPr>
            </a:pPr>
            <a:r>
              <a:t>Create contract</a:t>
            </a:r>
          </a:p>
        </p:txBody>
      </p:sp>
      <p:cxnSp>
        <p:nvCxnSpPr>
          <p:cNvPr id="9" name="Connector 8"/>
          <p:cNvCxnSpPr/>
          <p:nvPr/>
        </p:nvCxnSpPr>
        <p:spPr>
          <a:xfrm>
            <a:off x="3537364" y="1138428"/>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610516"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Job</a:t>
            </a:r>
          </a:p>
          <a:p>
            <a:pPr>
              <a:defRPr sz="950">
                <a:solidFill>
                  <a:srgbClr val="2D343C"/>
                </a:solidFill>
              </a:defRPr>
            </a:pPr>
            <a:r>
              <a:t>Select position</a:t>
            </a:r>
          </a:p>
        </p:txBody>
      </p:sp>
      <p:cxnSp>
        <p:nvCxnSpPr>
          <p:cNvPr id="11" name="Connector 10"/>
          <p:cNvCxnSpPr/>
          <p:nvPr/>
        </p:nvCxnSpPr>
        <p:spPr>
          <a:xfrm>
            <a:off x="4687679" y="1138428"/>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60831"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Start Date</a:t>
            </a:r>
          </a:p>
          <a:p>
            <a:pPr>
              <a:defRPr sz="950">
                <a:solidFill>
                  <a:srgbClr val="2D343C"/>
                </a:solidFill>
              </a:defRPr>
            </a:pPr>
            <a:r>
              <a:t>Set date</a:t>
            </a:r>
          </a:p>
        </p:txBody>
      </p:sp>
      <p:cxnSp>
        <p:nvCxnSpPr>
          <p:cNvPr id="13" name="Connector 12"/>
          <p:cNvCxnSpPr/>
          <p:nvPr/>
        </p:nvCxnSpPr>
        <p:spPr>
          <a:xfrm>
            <a:off x="5837995" y="1138428"/>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911147"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Salary Structure</a:t>
            </a:r>
          </a:p>
          <a:p>
            <a:pPr>
              <a:defRPr sz="950">
                <a:solidFill>
                  <a:srgbClr val="2D343C"/>
                </a:solidFill>
              </a:defRPr>
            </a:pPr>
            <a:r>
              <a:t>Select</a:t>
            </a:r>
          </a:p>
        </p:txBody>
      </p:sp>
      <p:cxnSp>
        <p:nvCxnSpPr>
          <p:cNvPr id="15" name="Connector 14"/>
          <p:cNvCxnSpPr/>
          <p:nvPr/>
        </p:nvCxnSpPr>
        <p:spPr>
          <a:xfrm>
            <a:off x="6988310" y="1138428"/>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061462"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Wage</a:t>
            </a:r>
          </a:p>
          <a:p>
            <a:pPr>
              <a:defRPr sz="950">
                <a:solidFill>
                  <a:srgbClr val="2D343C"/>
                </a:solidFill>
              </a:defRPr>
            </a:pPr>
            <a:r>
              <a:t>Enter salary</a:t>
            </a:r>
          </a:p>
        </p:txBody>
      </p:sp>
      <p:cxnSp>
        <p:nvCxnSpPr>
          <p:cNvPr id="17" name="Connector 16"/>
          <p:cNvCxnSpPr/>
          <p:nvPr/>
        </p:nvCxnSpPr>
        <p:spPr>
          <a:xfrm>
            <a:off x="8138625" y="1138428"/>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211777"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Terms</a:t>
            </a:r>
          </a:p>
          <a:p>
            <a:pPr>
              <a:defRPr sz="950">
                <a:solidFill>
                  <a:srgbClr val="2D343C"/>
                </a:solidFill>
              </a:defRPr>
            </a:pPr>
            <a:r>
              <a:t>Working hours / terms</a:t>
            </a:r>
          </a:p>
        </p:txBody>
      </p:sp>
      <p:cxnSp>
        <p:nvCxnSpPr>
          <p:cNvPr id="19" name="Connector 18"/>
          <p:cNvCxnSpPr/>
          <p:nvPr/>
        </p:nvCxnSpPr>
        <p:spPr>
          <a:xfrm>
            <a:off x="9288940" y="1138428"/>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362092"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Save</a:t>
            </a:r>
          </a:p>
          <a:p>
            <a:pPr>
              <a:defRPr sz="950">
                <a:solidFill>
                  <a:srgbClr val="2D343C"/>
                </a:solidFill>
              </a:defRPr>
            </a:pPr>
            <a:r>
              <a:t>Save</a:t>
            </a:r>
          </a:p>
        </p:txBody>
      </p:sp>
      <p:cxnSp>
        <p:nvCxnSpPr>
          <p:cNvPr id="21" name="Connector 20"/>
          <p:cNvCxnSpPr/>
          <p:nvPr/>
        </p:nvCxnSpPr>
        <p:spPr>
          <a:xfrm>
            <a:off x="10439255" y="1138428"/>
            <a:ext cx="73152" cy="0"/>
          </a:xfrm>
          <a:prstGeom prst="line">
            <a:avLst/>
          </a:prstGeom>
          <a:ln>
            <a:solidFill>
              <a:srgbClr val="DC7023"/>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0512407" y="800100"/>
            <a:ext cx="1077163" cy="68580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Confirm</a:t>
            </a:r>
          </a:p>
          <a:p>
            <a:pPr>
              <a:defRPr sz="950">
                <a:solidFill>
                  <a:srgbClr val="2D343C"/>
                </a:solidFill>
              </a:defRPr>
            </a:pPr>
            <a:r>
              <a:t>Contract confirmed</a:t>
            </a:r>
          </a:p>
        </p:txBody>
      </p:sp>
      <p:sp>
        <p:nvSpPr>
          <p:cNvPr id="23" name="Rounded Rectangle 22"/>
          <p:cNvSpPr/>
          <p:nvPr/>
        </p:nvSpPr>
        <p:spPr>
          <a:xfrm>
            <a:off x="256138" y="4945356"/>
            <a:ext cx="2317729" cy="1428146"/>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Contract</a:t>
            </a:r>
          </a:p>
          <a:p>
            <a:pPr>
              <a:defRPr sz="950">
                <a:solidFill>
                  <a:srgbClr val="2D343C"/>
                </a:solidFill>
              </a:defRPr>
            </a:pPr>
            <a:r>
              <a:t>Employee</a:t>
            </a:r>
          </a:p>
          <a:p>
            <a:pPr>
              <a:defRPr sz="950">
                <a:solidFill>
                  <a:srgbClr val="2D343C"/>
                </a:solidFill>
              </a:defRPr>
            </a:pPr>
            <a:r>
              <a:t>Job</a:t>
            </a:r>
          </a:p>
          <a:p>
            <a:pPr>
              <a:defRPr sz="950">
                <a:solidFill>
                  <a:srgbClr val="2D343C"/>
                </a:solidFill>
              </a:defRPr>
            </a:pPr>
            <a:r>
              <a:t>Start date</a:t>
            </a:r>
          </a:p>
          <a:p>
            <a:pPr>
              <a:defRPr sz="950">
                <a:solidFill>
                  <a:srgbClr val="2D343C"/>
                </a:solidFill>
              </a:defRPr>
            </a:pPr>
            <a:r>
              <a:t>Salary structure</a:t>
            </a:r>
          </a:p>
          <a:p>
            <a:pPr>
              <a:defRPr sz="950">
                <a:solidFill>
                  <a:srgbClr val="2D343C"/>
                </a:solidFill>
              </a:defRPr>
            </a:pPr>
            <a:r>
              <a:t>Wage</a:t>
            </a:r>
          </a:p>
          <a:p>
            <a:pPr>
              <a:defRPr sz="950">
                <a:solidFill>
                  <a:srgbClr val="2D343C"/>
                </a:solidFill>
              </a:defRPr>
            </a:pPr>
            <a:r>
              <a:t>Working hours</a:t>
            </a:r>
          </a:p>
        </p:txBody>
      </p:sp>
      <p:sp>
        <p:nvSpPr>
          <p:cNvPr id="24" name="Rounded Rectangle 23"/>
          <p:cNvSpPr/>
          <p:nvPr/>
        </p:nvSpPr>
        <p:spPr>
          <a:xfrm>
            <a:off x="3033756" y="4945355"/>
            <a:ext cx="2247267" cy="1428146"/>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Payroll Link</a:t>
            </a:r>
          </a:p>
          <a:p>
            <a:pPr>
              <a:defRPr sz="950">
                <a:solidFill>
                  <a:srgbClr val="2D343C"/>
                </a:solidFill>
              </a:defRPr>
            </a:pPr>
            <a:r>
              <a:t>Salary structure</a:t>
            </a:r>
          </a:p>
          <a:p>
            <a:pPr>
              <a:defRPr sz="950">
                <a:solidFill>
                  <a:srgbClr val="2D343C"/>
                </a:solidFill>
              </a:defRPr>
            </a:pPr>
            <a:r>
              <a:t>Salary rules</a:t>
            </a:r>
          </a:p>
          <a:p>
            <a:pPr>
              <a:defRPr sz="950">
                <a:solidFill>
                  <a:srgbClr val="2D343C"/>
                </a:solidFill>
              </a:defRPr>
            </a:pPr>
            <a:r>
              <a:t>Attendance / leave inputs</a:t>
            </a:r>
          </a:p>
        </p:txBody>
      </p:sp>
      <p:sp>
        <p:nvSpPr>
          <p:cNvPr id="25" name="TextBox 24"/>
          <p:cNvSpPr txBox="1"/>
          <p:nvPr/>
        </p:nvSpPr>
        <p:spPr>
          <a:xfrm>
            <a:off x="548640" y="6565392"/>
            <a:ext cx="10972800" cy="182880"/>
          </a:xfrm>
          <a:prstGeom prst="rect">
            <a:avLst/>
          </a:prstGeom>
          <a:noFill/>
        </p:spPr>
        <p:txBody>
          <a:bodyPr wrap="none">
            <a:spAutoFit/>
          </a:bodyPr>
          <a:lstStyle/>
          <a:p>
            <a:pPr>
              <a:defRPr sz="800">
                <a:solidFill>
                  <a:srgbClr val="697078"/>
                </a:solidFill>
              </a:defRPr>
            </a:pPr>
            <a:r>
              <a:t>HR Process • 6</a:t>
            </a:r>
          </a:p>
        </p:txBody>
      </p:sp>
      <p:pic>
        <p:nvPicPr>
          <p:cNvPr id="27" name="Picture 26">
            <a:extLst>
              <a:ext uri="{FF2B5EF4-FFF2-40B4-BE49-F238E27FC236}">
                <a16:creationId xmlns:a16="http://schemas.microsoft.com/office/drawing/2014/main" id="{7E2DD13A-872B-2787-9254-9C425E063BCF}"/>
              </a:ext>
            </a:extLst>
          </p:cNvPr>
          <p:cNvPicPr>
            <a:picLocks noChangeAspect="1"/>
          </p:cNvPicPr>
          <p:nvPr/>
        </p:nvPicPr>
        <p:blipFill>
          <a:blip r:embed="rId2"/>
          <a:stretch>
            <a:fillRect/>
          </a:stretch>
        </p:blipFill>
        <p:spPr>
          <a:xfrm>
            <a:off x="5919287" y="1857218"/>
            <a:ext cx="4438676" cy="2477557"/>
          </a:xfrm>
          <a:prstGeom prst="rect">
            <a:avLst/>
          </a:prstGeom>
        </p:spPr>
      </p:pic>
      <p:pic>
        <p:nvPicPr>
          <p:cNvPr id="29" name="Picture 28">
            <a:extLst>
              <a:ext uri="{FF2B5EF4-FFF2-40B4-BE49-F238E27FC236}">
                <a16:creationId xmlns:a16="http://schemas.microsoft.com/office/drawing/2014/main" id="{6A9E5744-EA05-E0CF-9685-826E27C7A02B}"/>
              </a:ext>
            </a:extLst>
          </p:cNvPr>
          <p:cNvPicPr>
            <a:picLocks noChangeAspect="1"/>
          </p:cNvPicPr>
          <p:nvPr/>
        </p:nvPicPr>
        <p:blipFill>
          <a:blip r:embed="rId3"/>
          <a:stretch>
            <a:fillRect/>
          </a:stretch>
        </p:blipFill>
        <p:spPr>
          <a:xfrm>
            <a:off x="370645" y="1857218"/>
            <a:ext cx="4578545" cy="2477557"/>
          </a:xfrm>
          <a:prstGeom prst="rect">
            <a:avLst/>
          </a:prstGeom>
        </p:spPr>
      </p:pic>
      <p:pic>
        <p:nvPicPr>
          <p:cNvPr id="31" name="Picture 30">
            <a:extLst>
              <a:ext uri="{FF2B5EF4-FFF2-40B4-BE49-F238E27FC236}">
                <a16:creationId xmlns:a16="http://schemas.microsoft.com/office/drawing/2014/main" id="{767D99A1-1933-7C29-A4C6-42636BD24115}"/>
              </a:ext>
            </a:extLst>
          </p:cNvPr>
          <p:cNvPicPr>
            <a:picLocks noChangeAspect="1"/>
          </p:cNvPicPr>
          <p:nvPr/>
        </p:nvPicPr>
        <p:blipFill>
          <a:blip r:embed="rId4"/>
          <a:stretch>
            <a:fillRect/>
          </a:stretch>
        </p:blipFill>
        <p:spPr>
          <a:xfrm>
            <a:off x="5911147" y="4570732"/>
            <a:ext cx="3857311" cy="2177540"/>
          </a:xfrm>
          <a:prstGeom prst="rect">
            <a:avLst/>
          </a:prstGeom>
        </p:spPr>
      </p:pic>
      <p:sp>
        <p:nvSpPr>
          <p:cNvPr id="33" name="Arrow: Up 32">
            <a:extLst>
              <a:ext uri="{FF2B5EF4-FFF2-40B4-BE49-F238E27FC236}">
                <a16:creationId xmlns:a16="http://schemas.microsoft.com/office/drawing/2014/main" id="{CDEFFB1E-AA05-4A59-8757-581B99BFC04F}"/>
              </a:ext>
            </a:extLst>
          </p:cNvPr>
          <p:cNvSpPr/>
          <p:nvPr/>
        </p:nvSpPr>
        <p:spPr>
          <a:xfrm>
            <a:off x="1696877" y="2148843"/>
            <a:ext cx="137160" cy="388815"/>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5" name="Arrow: Up 34">
            <a:extLst>
              <a:ext uri="{FF2B5EF4-FFF2-40B4-BE49-F238E27FC236}">
                <a16:creationId xmlns:a16="http://schemas.microsoft.com/office/drawing/2014/main" id="{B9EB01F9-4CD5-8946-99FE-94293E25D1AF}"/>
              </a:ext>
            </a:extLst>
          </p:cNvPr>
          <p:cNvSpPr/>
          <p:nvPr/>
        </p:nvSpPr>
        <p:spPr>
          <a:xfrm rot="5400000">
            <a:off x="6771383" y="3418988"/>
            <a:ext cx="137160" cy="388815"/>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Arrow: Up 36">
            <a:extLst>
              <a:ext uri="{FF2B5EF4-FFF2-40B4-BE49-F238E27FC236}">
                <a16:creationId xmlns:a16="http://schemas.microsoft.com/office/drawing/2014/main" id="{047CCA8B-4438-7526-0619-0BC5789B968A}"/>
              </a:ext>
            </a:extLst>
          </p:cNvPr>
          <p:cNvSpPr/>
          <p:nvPr/>
        </p:nvSpPr>
        <p:spPr>
          <a:xfrm>
            <a:off x="9832093" y="3003654"/>
            <a:ext cx="137160" cy="388815"/>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9" name="Arrow: Up 38">
            <a:extLst>
              <a:ext uri="{FF2B5EF4-FFF2-40B4-BE49-F238E27FC236}">
                <a16:creationId xmlns:a16="http://schemas.microsoft.com/office/drawing/2014/main" id="{12F5F09F-DD4F-A467-6BA3-740283597443}"/>
              </a:ext>
            </a:extLst>
          </p:cNvPr>
          <p:cNvSpPr/>
          <p:nvPr/>
        </p:nvSpPr>
        <p:spPr>
          <a:xfrm rot="5400000">
            <a:off x="6761900" y="2274671"/>
            <a:ext cx="137160" cy="388815"/>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40" name="Straight Arrow Connector 39">
            <a:extLst>
              <a:ext uri="{FF2B5EF4-FFF2-40B4-BE49-F238E27FC236}">
                <a16:creationId xmlns:a16="http://schemas.microsoft.com/office/drawing/2014/main" id="{D1200ACC-4A96-104F-46DE-A53D872455BC}"/>
              </a:ext>
            </a:extLst>
          </p:cNvPr>
          <p:cNvCxnSpPr>
            <a:cxnSpLocks/>
          </p:cNvCxnSpPr>
          <p:nvPr/>
        </p:nvCxnSpPr>
        <p:spPr>
          <a:xfrm>
            <a:off x="5000976" y="3171427"/>
            <a:ext cx="837018"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42" name="Connector: Elbow 41">
            <a:extLst>
              <a:ext uri="{FF2B5EF4-FFF2-40B4-BE49-F238E27FC236}">
                <a16:creationId xmlns:a16="http://schemas.microsoft.com/office/drawing/2014/main" id="{62739941-5946-CCE3-FE38-DCEB65585A25}"/>
              </a:ext>
            </a:extLst>
          </p:cNvPr>
          <p:cNvCxnSpPr/>
          <p:nvPr/>
        </p:nvCxnSpPr>
        <p:spPr>
          <a:xfrm>
            <a:off x="10357963" y="3075627"/>
            <a:ext cx="466529" cy="2492435"/>
          </a:xfrm>
          <a:prstGeom prst="bentConnector2">
            <a:avLst/>
          </a:prstGeom>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EA855531-5A18-9387-21D0-21A7F831C208}"/>
              </a:ext>
            </a:extLst>
          </p:cNvPr>
          <p:cNvCxnSpPr>
            <a:cxnSpLocks/>
          </p:cNvCxnSpPr>
          <p:nvPr/>
        </p:nvCxnSpPr>
        <p:spPr>
          <a:xfrm flipH="1">
            <a:off x="9902040" y="5568062"/>
            <a:ext cx="91184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2787" y="77165"/>
            <a:ext cx="10972800" cy="502920"/>
          </a:xfrm>
          <a:prstGeom prst="rect">
            <a:avLst/>
          </a:prstGeom>
          <a:noFill/>
        </p:spPr>
        <p:txBody>
          <a:bodyPr wrap="none">
            <a:spAutoFit/>
          </a:bodyPr>
          <a:lstStyle/>
          <a:p>
            <a:pPr>
              <a:defRPr sz="2500" b="1">
                <a:solidFill>
                  <a:srgbClr val="16375E"/>
                </a:solidFill>
              </a:defRPr>
            </a:pPr>
            <a:r>
              <a:rPr dirty="0"/>
              <a:t>6. Leave Management</a:t>
            </a:r>
          </a:p>
        </p:txBody>
      </p:sp>
      <p:sp>
        <p:nvSpPr>
          <p:cNvPr id="4" name="Rounded Rectangle 3"/>
          <p:cNvSpPr/>
          <p:nvPr/>
        </p:nvSpPr>
        <p:spPr>
          <a:xfrm>
            <a:off x="196426" y="580085"/>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rPr lang="en-US" dirty="0"/>
              <a:t>LEAVES</a:t>
            </a:r>
            <a:endParaRPr dirty="0"/>
          </a:p>
          <a:p>
            <a:pPr>
              <a:defRPr sz="950">
                <a:solidFill>
                  <a:srgbClr val="2D343C"/>
                </a:solidFill>
              </a:defRPr>
            </a:pPr>
            <a:r>
              <a:rPr dirty="0"/>
              <a:t>Open leave</a:t>
            </a:r>
            <a:r>
              <a:rPr lang="en-US" dirty="0"/>
              <a:t> go to management then leaves</a:t>
            </a:r>
            <a:endParaRPr dirty="0"/>
          </a:p>
        </p:txBody>
      </p:sp>
      <p:cxnSp>
        <p:nvCxnSpPr>
          <p:cNvPr id="5" name="Connector 4"/>
          <p:cNvCxnSpPr/>
          <p:nvPr/>
        </p:nvCxnSpPr>
        <p:spPr>
          <a:xfrm>
            <a:off x="1561168" y="918413"/>
            <a:ext cx="73152" cy="0"/>
          </a:xfrm>
          <a:prstGeom prst="line">
            <a:avLst/>
          </a:prstGeom>
          <a:ln>
            <a:solidFill>
              <a:srgbClr val="CA911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634320" y="580085"/>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t>New Request</a:t>
            </a:r>
          </a:p>
          <a:p>
            <a:pPr>
              <a:defRPr sz="950">
                <a:solidFill>
                  <a:srgbClr val="2D343C"/>
                </a:solidFill>
              </a:defRPr>
            </a:pPr>
            <a:r>
              <a:t>Create</a:t>
            </a:r>
          </a:p>
        </p:txBody>
      </p:sp>
      <p:cxnSp>
        <p:nvCxnSpPr>
          <p:cNvPr id="7" name="Connector 6"/>
          <p:cNvCxnSpPr/>
          <p:nvPr/>
        </p:nvCxnSpPr>
        <p:spPr>
          <a:xfrm>
            <a:off x="2999062" y="918413"/>
            <a:ext cx="73152" cy="0"/>
          </a:xfrm>
          <a:prstGeom prst="line">
            <a:avLst/>
          </a:prstGeom>
          <a:ln>
            <a:solidFill>
              <a:srgbClr val="CA911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072214" y="580085"/>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rPr dirty="0"/>
              <a:t>Employee</a:t>
            </a:r>
          </a:p>
          <a:p>
            <a:pPr>
              <a:defRPr sz="950">
                <a:solidFill>
                  <a:srgbClr val="2D343C"/>
                </a:solidFill>
              </a:defRPr>
            </a:pPr>
            <a:r>
              <a:rPr dirty="0"/>
              <a:t>Select</a:t>
            </a:r>
          </a:p>
        </p:txBody>
      </p:sp>
      <p:cxnSp>
        <p:nvCxnSpPr>
          <p:cNvPr id="9" name="Connector 8"/>
          <p:cNvCxnSpPr/>
          <p:nvPr/>
        </p:nvCxnSpPr>
        <p:spPr>
          <a:xfrm>
            <a:off x="4436956" y="918413"/>
            <a:ext cx="73152" cy="0"/>
          </a:xfrm>
          <a:prstGeom prst="line">
            <a:avLst/>
          </a:prstGeom>
          <a:ln>
            <a:solidFill>
              <a:srgbClr val="CA911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510108" y="580085"/>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t>Leave Type</a:t>
            </a:r>
          </a:p>
          <a:p>
            <a:pPr>
              <a:defRPr sz="950">
                <a:solidFill>
                  <a:srgbClr val="2D343C"/>
                </a:solidFill>
              </a:defRPr>
            </a:pPr>
            <a:r>
              <a:t>Select</a:t>
            </a:r>
          </a:p>
        </p:txBody>
      </p:sp>
      <p:cxnSp>
        <p:nvCxnSpPr>
          <p:cNvPr id="11" name="Connector 10"/>
          <p:cNvCxnSpPr/>
          <p:nvPr/>
        </p:nvCxnSpPr>
        <p:spPr>
          <a:xfrm>
            <a:off x="5874850" y="918413"/>
            <a:ext cx="73152" cy="0"/>
          </a:xfrm>
          <a:prstGeom prst="line">
            <a:avLst/>
          </a:prstGeom>
          <a:ln>
            <a:solidFill>
              <a:srgbClr val="CA911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48002" y="580085"/>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t>Dates</a:t>
            </a:r>
          </a:p>
          <a:p>
            <a:pPr>
              <a:defRPr sz="950">
                <a:solidFill>
                  <a:srgbClr val="2D343C"/>
                </a:solidFill>
              </a:defRPr>
            </a:pPr>
            <a:r>
              <a:t>Enter duration</a:t>
            </a:r>
          </a:p>
        </p:txBody>
      </p:sp>
      <p:cxnSp>
        <p:nvCxnSpPr>
          <p:cNvPr id="13" name="Connector 12"/>
          <p:cNvCxnSpPr/>
          <p:nvPr/>
        </p:nvCxnSpPr>
        <p:spPr>
          <a:xfrm>
            <a:off x="7312744" y="918413"/>
            <a:ext cx="73151" cy="0"/>
          </a:xfrm>
          <a:prstGeom prst="line">
            <a:avLst/>
          </a:prstGeom>
          <a:ln>
            <a:solidFill>
              <a:srgbClr val="CA91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85895" y="580085"/>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t>Submit</a:t>
            </a:r>
          </a:p>
          <a:p>
            <a:pPr>
              <a:defRPr sz="950">
                <a:solidFill>
                  <a:srgbClr val="2D343C"/>
                </a:solidFill>
              </a:defRPr>
            </a:pPr>
            <a:r>
              <a:t>Send</a:t>
            </a:r>
          </a:p>
        </p:txBody>
      </p:sp>
      <p:cxnSp>
        <p:nvCxnSpPr>
          <p:cNvPr id="15" name="Connector 14"/>
          <p:cNvCxnSpPr/>
          <p:nvPr/>
        </p:nvCxnSpPr>
        <p:spPr>
          <a:xfrm>
            <a:off x="8750638" y="918413"/>
            <a:ext cx="73152" cy="0"/>
          </a:xfrm>
          <a:prstGeom prst="line">
            <a:avLst/>
          </a:prstGeom>
          <a:ln>
            <a:solidFill>
              <a:srgbClr val="CA911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823790" y="580085"/>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t>Approval</a:t>
            </a:r>
          </a:p>
          <a:p>
            <a:pPr>
              <a:defRPr sz="950">
                <a:solidFill>
                  <a:srgbClr val="2D343C"/>
                </a:solidFill>
              </a:defRPr>
            </a:pPr>
            <a:r>
              <a:t>Manager / HR</a:t>
            </a:r>
          </a:p>
        </p:txBody>
      </p:sp>
      <p:cxnSp>
        <p:nvCxnSpPr>
          <p:cNvPr id="17" name="Connector 16"/>
          <p:cNvCxnSpPr/>
          <p:nvPr/>
        </p:nvCxnSpPr>
        <p:spPr>
          <a:xfrm>
            <a:off x="10188532" y="918413"/>
            <a:ext cx="73152" cy="0"/>
          </a:xfrm>
          <a:prstGeom prst="line">
            <a:avLst/>
          </a:prstGeom>
          <a:ln>
            <a:solidFill>
              <a:srgbClr val="CA911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261684" y="580085"/>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t>Approved</a:t>
            </a:r>
          </a:p>
          <a:p>
            <a:pPr>
              <a:defRPr sz="950">
                <a:solidFill>
                  <a:srgbClr val="2D343C"/>
                </a:solidFill>
              </a:defRPr>
            </a:pPr>
            <a:r>
              <a:t>Leave recorded</a:t>
            </a:r>
          </a:p>
        </p:txBody>
      </p:sp>
      <p:sp>
        <p:nvSpPr>
          <p:cNvPr id="19" name="Rounded Rectangle 18"/>
          <p:cNvSpPr/>
          <p:nvPr/>
        </p:nvSpPr>
        <p:spPr>
          <a:xfrm>
            <a:off x="82465" y="5096932"/>
            <a:ext cx="2914735" cy="1683903"/>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CA911C"/>
                </a:solidFill>
              </a:defRPr>
            </a:pPr>
            <a:r>
              <a:rPr lang="en-IN" sz="1400" b="1" dirty="0">
                <a:solidFill>
                  <a:srgbClr val="FFC000"/>
                </a:solidFill>
              </a:rPr>
              <a:t>Allocate Leaves </a:t>
            </a:r>
            <a:br>
              <a:rPr lang="en-IN" sz="1400" b="1" dirty="0">
                <a:solidFill>
                  <a:srgbClr val="2D343C"/>
                </a:solidFill>
              </a:rPr>
            </a:br>
            <a:r>
              <a:rPr lang="en-IN" sz="950" b="1" dirty="0">
                <a:solidFill>
                  <a:srgbClr val="2D343C"/>
                </a:solidFill>
              </a:rPr>
              <a:t>Allocate Leaves (All Employees)</a:t>
            </a:r>
            <a:r>
              <a:rPr lang="en-IN" sz="950" dirty="0">
                <a:solidFill>
                  <a:srgbClr val="2D343C"/>
                </a:solidFill>
              </a:rPr>
              <a:t> is used when the company wants to grant a specific leave balance to multiple employees at once. Instead of creating a separate allocation for each employee, HR can select the company, choose the required leave type (such as Casual Leave or Sick Leave), specify the number of days/hours and validity period, and create the allocation. The system will then automatically allocate the selected leave balance to all eligible employees of that company.</a:t>
            </a:r>
            <a:endParaRPr dirty="0"/>
          </a:p>
        </p:txBody>
      </p:sp>
      <p:sp>
        <p:nvSpPr>
          <p:cNvPr id="20" name="Rounded Rectangle 19"/>
          <p:cNvSpPr/>
          <p:nvPr/>
        </p:nvSpPr>
        <p:spPr>
          <a:xfrm>
            <a:off x="3241548" y="5096932"/>
            <a:ext cx="2050119" cy="1683903"/>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3D8949"/>
                </a:solidFill>
              </a:defRPr>
            </a:pPr>
            <a:r>
              <a:rPr lang="en-IN" sz="1300" b="1" dirty="0">
                <a:solidFill>
                  <a:srgbClr val="3D8949"/>
                </a:solidFill>
              </a:rPr>
              <a:t>Leave Types </a:t>
            </a:r>
            <a:br>
              <a:rPr lang="en-IN" sz="1300" b="1" dirty="0">
                <a:solidFill>
                  <a:srgbClr val="3D8949"/>
                </a:solidFill>
              </a:rPr>
            </a:br>
            <a:r>
              <a:rPr lang="en-IN" sz="950" dirty="0">
                <a:solidFill>
                  <a:srgbClr val="2D343C"/>
                </a:solidFill>
              </a:rPr>
              <a:t>Leave Types allow the company to </a:t>
            </a:r>
            <a:r>
              <a:rPr lang="en-IN" sz="950" b="1" dirty="0">
                <a:solidFill>
                  <a:srgbClr val="2D343C"/>
                </a:solidFill>
              </a:rPr>
              <a:t>define and configure different types of leaves</a:t>
            </a:r>
            <a:r>
              <a:rPr lang="en-IN" sz="950" dirty="0">
                <a:solidFill>
                  <a:srgbClr val="2D343C"/>
                </a:solidFill>
              </a:rPr>
              <a:t> such as Casual Leave (CL), Sick Leave (SL), Earned Leave (EL), Paid Time Off, Management Leave, and On Duty. Each leave type can have its own approval and allocation rules.</a:t>
            </a:r>
            <a:endParaRPr dirty="0"/>
          </a:p>
        </p:txBody>
      </p:sp>
      <p:sp>
        <p:nvSpPr>
          <p:cNvPr id="21" name="Rounded Rectangle 20"/>
          <p:cNvSpPr/>
          <p:nvPr/>
        </p:nvSpPr>
        <p:spPr>
          <a:xfrm>
            <a:off x="5536015" y="5096932"/>
            <a:ext cx="2430018" cy="1683903"/>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694B9B"/>
                </a:solidFill>
              </a:defRPr>
            </a:pPr>
            <a:r>
              <a:rPr lang="en-IN" sz="1300" b="1" dirty="0">
                <a:solidFill>
                  <a:srgbClr val="694B9B"/>
                </a:solidFill>
              </a:rPr>
              <a:t>Public Holidays </a:t>
            </a:r>
            <a:br>
              <a:rPr lang="en-IN" sz="1300" b="1" dirty="0">
                <a:solidFill>
                  <a:srgbClr val="694B9B"/>
                </a:solidFill>
              </a:rPr>
            </a:br>
            <a:r>
              <a:rPr lang="en-IN" sz="950" dirty="0">
                <a:solidFill>
                  <a:srgbClr val="2D343C"/>
                </a:solidFill>
              </a:rPr>
              <a:t>Public Holidays allow the company to </a:t>
            </a:r>
            <a:r>
              <a:rPr lang="en-IN" sz="950" b="1" dirty="0">
                <a:solidFill>
                  <a:srgbClr val="2D343C"/>
                </a:solidFill>
              </a:rPr>
              <a:t>define holidays that apply to employees</a:t>
            </a:r>
            <a:r>
              <a:rPr lang="en-IN" sz="950" dirty="0">
                <a:solidFill>
                  <a:srgbClr val="2D343C"/>
                </a:solidFill>
              </a:rPr>
              <a:t>, such as national holidays, festivals, or company-declared holidays. The holiday can be configured with a start date, end date, working hours, and company so that it is considered when calculating employee working and leave schedules.</a:t>
            </a:r>
            <a:endParaRPr dirty="0"/>
          </a:p>
        </p:txBody>
      </p:sp>
      <p:sp>
        <p:nvSpPr>
          <p:cNvPr id="23" name="Rounded Rectangle 3">
            <a:extLst>
              <a:ext uri="{FF2B5EF4-FFF2-40B4-BE49-F238E27FC236}">
                <a16:creationId xmlns:a16="http://schemas.microsoft.com/office/drawing/2014/main" id="{EBB05CCD-B0F2-5EAC-B6ED-EB9949D2B86C}"/>
              </a:ext>
            </a:extLst>
          </p:cNvPr>
          <p:cNvSpPr/>
          <p:nvPr/>
        </p:nvSpPr>
        <p:spPr>
          <a:xfrm>
            <a:off x="196426" y="1466908"/>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rPr lang="en-US" dirty="0"/>
              <a:t>Configuration </a:t>
            </a:r>
            <a:endParaRPr dirty="0"/>
          </a:p>
          <a:p>
            <a:pPr>
              <a:defRPr sz="950">
                <a:solidFill>
                  <a:srgbClr val="2D343C"/>
                </a:solidFill>
              </a:defRPr>
            </a:pPr>
            <a:r>
              <a:rPr dirty="0"/>
              <a:t>Open leave</a:t>
            </a:r>
          </a:p>
        </p:txBody>
      </p:sp>
      <p:cxnSp>
        <p:nvCxnSpPr>
          <p:cNvPr id="24" name="Connector 4">
            <a:extLst>
              <a:ext uri="{FF2B5EF4-FFF2-40B4-BE49-F238E27FC236}">
                <a16:creationId xmlns:a16="http://schemas.microsoft.com/office/drawing/2014/main" id="{DD829116-9B20-8017-8DA5-ECF96771E59E}"/>
              </a:ext>
            </a:extLst>
          </p:cNvPr>
          <p:cNvCxnSpPr/>
          <p:nvPr/>
        </p:nvCxnSpPr>
        <p:spPr>
          <a:xfrm>
            <a:off x="1561168" y="1805236"/>
            <a:ext cx="73152" cy="0"/>
          </a:xfrm>
          <a:prstGeom prst="line">
            <a:avLst/>
          </a:prstGeom>
          <a:ln>
            <a:solidFill>
              <a:srgbClr val="CA911C"/>
            </a:solidFill>
          </a:ln>
        </p:spPr>
        <p:style>
          <a:lnRef idx="2">
            <a:schemeClr val="accent1"/>
          </a:lnRef>
          <a:fillRef idx="0">
            <a:schemeClr val="accent1"/>
          </a:fillRef>
          <a:effectRef idx="1">
            <a:schemeClr val="accent1"/>
          </a:effectRef>
          <a:fontRef idx="minor">
            <a:schemeClr val="tx1"/>
          </a:fontRef>
        </p:style>
      </p:cxnSp>
      <p:sp>
        <p:nvSpPr>
          <p:cNvPr id="25" name="Rounded Rectangle 5">
            <a:extLst>
              <a:ext uri="{FF2B5EF4-FFF2-40B4-BE49-F238E27FC236}">
                <a16:creationId xmlns:a16="http://schemas.microsoft.com/office/drawing/2014/main" id="{A488AB16-72AB-AF51-B6F8-E98D8E8D6CC6}"/>
              </a:ext>
            </a:extLst>
          </p:cNvPr>
          <p:cNvSpPr/>
          <p:nvPr/>
        </p:nvSpPr>
        <p:spPr>
          <a:xfrm>
            <a:off x="1634320" y="1466908"/>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rPr lang="en-US" dirty="0"/>
              <a:t>Leaves Types</a:t>
            </a:r>
            <a:endParaRPr dirty="0"/>
          </a:p>
          <a:p>
            <a:pPr>
              <a:defRPr sz="950">
                <a:solidFill>
                  <a:srgbClr val="2D343C"/>
                </a:solidFill>
              </a:defRPr>
            </a:pPr>
            <a:r>
              <a:rPr lang="en-US" dirty="0"/>
              <a:t>We can set the types of leaves</a:t>
            </a:r>
            <a:endParaRPr dirty="0"/>
          </a:p>
        </p:txBody>
      </p:sp>
      <p:cxnSp>
        <p:nvCxnSpPr>
          <p:cNvPr id="26" name="Connector 6">
            <a:extLst>
              <a:ext uri="{FF2B5EF4-FFF2-40B4-BE49-F238E27FC236}">
                <a16:creationId xmlns:a16="http://schemas.microsoft.com/office/drawing/2014/main" id="{7C03CCFA-5BA4-8AD3-20F9-283F3A741735}"/>
              </a:ext>
            </a:extLst>
          </p:cNvPr>
          <p:cNvCxnSpPr/>
          <p:nvPr/>
        </p:nvCxnSpPr>
        <p:spPr>
          <a:xfrm>
            <a:off x="2999062" y="1805236"/>
            <a:ext cx="73152" cy="0"/>
          </a:xfrm>
          <a:prstGeom prst="line">
            <a:avLst/>
          </a:prstGeom>
          <a:ln>
            <a:solidFill>
              <a:srgbClr val="CA911C"/>
            </a:solidFill>
          </a:ln>
        </p:spPr>
        <p:style>
          <a:lnRef idx="2">
            <a:schemeClr val="accent1"/>
          </a:lnRef>
          <a:fillRef idx="0">
            <a:schemeClr val="accent1"/>
          </a:fillRef>
          <a:effectRef idx="1">
            <a:schemeClr val="accent1"/>
          </a:effectRef>
          <a:fontRef idx="minor">
            <a:schemeClr val="tx1"/>
          </a:fontRef>
        </p:style>
      </p:cxnSp>
      <p:sp>
        <p:nvSpPr>
          <p:cNvPr id="27" name="Rounded Rectangle 7">
            <a:extLst>
              <a:ext uri="{FF2B5EF4-FFF2-40B4-BE49-F238E27FC236}">
                <a16:creationId xmlns:a16="http://schemas.microsoft.com/office/drawing/2014/main" id="{FBEE3872-A279-713E-62A1-139C82942F1B}"/>
              </a:ext>
            </a:extLst>
          </p:cNvPr>
          <p:cNvSpPr/>
          <p:nvPr/>
        </p:nvSpPr>
        <p:spPr>
          <a:xfrm>
            <a:off x="3072214" y="1494144"/>
            <a:ext cx="1364742" cy="68580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rPr lang="en-US" dirty="0"/>
              <a:t>Public holiday</a:t>
            </a:r>
            <a:endParaRPr dirty="0"/>
          </a:p>
          <a:p>
            <a:pPr>
              <a:defRPr sz="950">
                <a:solidFill>
                  <a:srgbClr val="2D343C"/>
                </a:solidFill>
              </a:defRPr>
            </a:pPr>
            <a:r>
              <a:rPr lang="en-US" dirty="0"/>
              <a:t>Here we can set the public holidays</a:t>
            </a:r>
            <a:endParaRPr dirty="0"/>
          </a:p>
        </p:txBody>
      </p:sp>
      <p:pic>
        <p:nvPicPr>
          <p:cNvPr id="35" name="Picture 34">
            <a:extLst>
              <a:ext uri="{FF2B5EF4-FFF2-40B4-BE49-F238E27FC236}">
                <a16:creationId xmlns:a16="http://schemas.microsoft.com/office/drawing/2014/main" id="{50EF9FFB-7F3B-0A95-6ACE-1653BB892FB6}"/>
              </a:ext>
            </a:extLst>
          </p:cNvPr>
          <p:cNvPicPr>
            <a:picLocks noChangeAspect="1"/>
          </p:cNvPicPr>
          <p:nvPr/>
        </p:nvPicPr>
        <p:blipFill>
          <a:blip r:embed="rId2"/>
          <a:stretch>
            <a:fillRect/>
          </a:stretch>
        </p:blipFill>
        <p:spPr>
          <a:xfrm>
            <a:off x="196427" y="2463800"/>
            <a:ext cx="2546774" cy="1837261"/>
          </a:xfrm>
          <a:prstGeom prst="rect">
            <a:avLst/>
          </a:prstGeom>
        </p:spPr>
      </p:pic>
      <p:pic>
        <p:nvPicPr>
          <p:cNvPr id="37" name="Picture 36">
            <a:extLst>
              <a:ext uri="{FF2B5EF4-FFF2-40B4-BE49-F238E27FC236}">
                <a16:creationId xmlns:a16="http://schemas.microsoft.com/office/drawing/2014/main" id="{CD0C35BB-3B25-016A-E758-659E44108EE1}"/>
              </a:ext>
            </a:extLst>
          </p:cNvPr>
          <p:cNvPicPr>
            <a:picLocks noChangeAspect="1"/>
          </p:cNvPicPr>
          <p:nvPr/>
        </p:nvPicPr>
        <p:blipFill>
          <a:blip r:embed="rId3"/>
          <a:stretch>
            <a:fillRect/>
          </a:stretch>
        </p:blipFill>
        <p:spPr>
          <a:xfrm>
            <a:off x="3109812" y="2456788"/>
            <a:ext cx="2528866" cy="1837256"/>
          </a:xfrm>
          <a:prstGeom prst="rect">
            <a:avLst/>
          </a:prstGeom>
        </p:spPr>
      </p:pic>
      <p:pic>
        <p:nvPicPr>
          <p:cNvPr id="39" name="Picture 38">
            <a:extLst>
              <a:ext uri="{FF2B5EF4-FFF2-40B4-BE49-F238E27FC236}">
                <a16:creationId xmlns:a16="http://schemas.microsoft.com/office/drawing/2014/main" id="{FE19320B-ACAF-8ADF-E079-F6F204BBFF4A}"/>
              </a:ext>
            </a:extLst>
          </p:cNvPr>
          <p:cNvPicPr>
            <a:picLocks noChangeAspect="1"/>
          </p:cNvPicPr>
          <p:nvPr/>
        </p:nvPicPr>
        <p:blipFill>
          <a:blip r:embed="rId4"/>
          <a:stretch>
            <a:fillRect/>
          </a:stretch>
        </p:blipFill>
        <p:spPr>
          <a:xfrm>
            <a:off x="5955645" y="2456788"/>
            <a:ext cx="3132667" cy="1863901"/>
          </a:xfrm>
          <a:prstGeom prst="rect">
            <a:avLst/>
          </a:prstGeom>
        </p:spPr>
      </p:pic>
      <p:pic>
        <p:nvPicPr>
          <p:cNvPr id="41" name="Picture 40">
            <a:extLst>
              <a:ext uri="{FF2B5EF4-FFF2-40B4-BE49-F238E27FC236}">
                <a16:creationId xmlns:a16="http://schemas.microsoft.com/office/drawing/2014/main" id="{B92AE41B-A7D7-4D53-AB25-F59F24C6CC6E}"/>
              </a:ext>
            </a:extLst>
          </p:cNvPr>
          <p:cNvPicPr>
            <a:picLocks noChangeAspect="1"/>
          </p:cNvPicPr>
          <p:nvPr/>
        </p:nvPicPr>
        <p:blipFill>
          <a:blip r:embed="rId5"/>
          <a:stretch>
            <a:fillRect/>
          </a:stretch>
        </p:blipFill>
        <p:spPr>
          <a:xfrm>
            <a:off x="9405280" y="2449771"/>
            <a:ext cx="2702053" cy="1851290"/>
          </a:xfrm>
          <a:prstGeom prst="rect">
            <a:avLst/>
          </a:prstGeom>
        </p:spPr>
      </p:pic>
      <p:pic>
        <p:nvPicPr>
          <p:cNvPr id="43" name="Picture 42">
            <a:extLst>
              <a:ext uri="{FF2B5EF4-FFF2-40B4-BE49-F238E27FC236}">
                <a16:creationId xmlns:a16="http://schemas.microsoft.com/office/drawing/2014/main" id="{441FF39E-984F-26EA-7E51-51EF15C5BD94}"/>
              </a:ext>
            </a:extLst>
          </p:cNvPr>
          <p:cNvPicPr>
            <a:picLocks noChangeAspect="1"/>
          </p:cNvPicPr>
          <p:nvPr/>
        </p:nvPicPr>
        <p:blipFill>
          <a:blip r:embed="rId6"/>
          <a:stretch>
            <a:fillRect/>
          </a:stretch>
        </p:blipFill>
        <p:spPr>
          <a:xfrm>
            <a:off x="8210381" y="5080465"/>
            <a:ext cx="3683394" cy="1667436"/>
          </a:xfrm>
          <a:prstGeom prst="rect">
            <a:avLst/>
          </a:prstGeom>
        </p:spPr>
      </p:pic>
      <p:sp>
        <p:nvSpPr>
          <p:cNvPr id="44" name="Arrow: Up 43">
            <a:extLst>
              <a:ext uri="{FF2B5EF4-FFF2-40B4-BE49-F238E27FC236}">
                <a16:creationId xmlns:a16="http://schemas.microsoft.com/office/drawing/2014/main" id="{1C916139-1A89-6BC4-A1CB-EED0BF770817}"/>
              </a:ext>
            </a:extLst>
          </p:cNvPr>
          <p:cNvSpPr/>
          <p:nvPr/>
        </p:nvSpPr>
        <p:spPr>
          <a:xfrm>
            <a:off x="241592" y="2708143"/>
            <a:ext cx="82389" cy="333041"/>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6" name="Arrow: Up 45">
            <a:extLst>
              <a:ext uri="{FF2B5EF4-FFF2-40B4-BE49-F238E27FC236}">
                <a16:creationId xmlns:a16="http://schemas.microsoft.com/office/drawing/2014/main" id="{4E612368-14AC-2D7F-5A4C-33E7E39AF21D}"/>
              </a:ext>
            </a:extLst>
          </p:cNvPr>
          <p:cNvSpPr/>
          <p:nvPr/>
        </p:nvSpPr>
        <p:spPr>
          <a:xfrm rot="16200000">
            <a:off x="720172" y="2559100"/>
            <a:ext cx="49472" cy="152016"/>
          </a:xfrm>
          <a:prstGeom prst="upArrow">
            <a:avLst/>
          </a:prstGeom>
          <a:solidFill>
            <a:schemeClr val="tx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Arrow: Up 47">
            <a:extLst>
              <a:ext uri="{FF2B5EF4-FFF2-40B4-BE49-F238E27FC236}">
                <a16:creationId xmlns:a16="http://schemas.microsoft.com/office/drawing/2014/main" id="{B0FED1FB-503B-C39B-023C-2DEF34498956}"/>
              </a:ext>
            </a:extLst>
          </p:cNvPr>
          <p:cNvSpPr/>
          <p:nvPr/>
        </p:nvSpPr>
        <p:spPr>
          <a:xfrm>
            <a:off x="530767" y="2889168"/>
            <a:ext cx="49472" cy="152016"/>
          </a:xfrm>
          <a:prstGeom prst="upArrow">
            <a:avLst/>
          </a:prstGeom>
          <a:solidFill>
            <a:schemeClr val="tx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0" name="Arrow: Up 49">
            <a:extLst>
              <a:ext uri="{FF2B5EF4-FFF2-40B4-BE49-F238E27FC236}">
                <a16:creationId xmlns:a16="http://schemas.microsoft.com/office/drawing/2014/main" id="{4258C9FE-C769-4442-E27D-BDEDD026140F}"/>
              </a:ext>
            </a:extLst>
          </p:cNvPr>
          <p:cNvSpPr/>
          <p:nvPr/>
        </p:nvSpPr>
        <p:spPr>
          <a:xfrm rot="16200000">
            <a:off x="9820032" y="5408939"/>
            <a:ext cx="49472" cy="152016"/>
          </a:xfrm>
          <a:prstGeom prst="upArrow">
            <a:avLst/>
          </a:prstGeom>
          <a:solidFill>
            <a:schemeClr val="tx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2" name="Arrow: Up 51">
            <a:extLst>
              <a:ext uri="{FF2B5EF4-FFF2-40B4-BE49-F238E27FC236}">
                <a16:creationId xmlns:a16="http://schemas.microsoft.com/office/drawing/2014/main" id="{6634ABE3-A4DA-937C-24CC-DF86638DBCA5}"/>
              </a:ext>
            </a:extLst>
          </p:cNvPr>
          <p:cNvSpPr/>
          <p:nvPr/>
        </p:nvSpPr>
        <p:spPr>
          <a:xfrm rot="16200000">
            <a:off x="9763909" y="5231291"/>
            <a:ext cx="49472" cy="152016"/>
          </a:xfrm>
          <a:prstGeom prst="upArrow">
            <a:avLst/>
          </a:prstGeom>
          <a:solidFill>
            <a:schemeClr val="tx2">
              <a:lumMod val="60000"/>
              <a:lumOff val="40000"/>
            </a:schemeClr>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9B699A95-164A-5709-84C1-17171B0674F3}"/>
              </a:ext>
            </a:extLst>
          </p:cNvPr>
          <p:cNvSpPr txBox="1"/>
          <p:nvPr/>
        </p:nvSpPr>
        <p:spPr>
          <a:xfrm>
            <a:off x="3913069" y="2190242"/>
            <a:ext cx="1364742" cy="292388"/>
          </a:xfrm>
          <a:prstGeom prst="rect">
            <a:avLst/>
          </a:prstGeom>
          <a:noFill/>
        </p:spPr>
        <p:txBody>
          <a:bodyPr wrap="square">
            <a:spAutoFit/>
          </a:bodyPr>
          <a:lstStyle/>
          <a:p>
            <a:r>
              <a:rPr lang="en-IN" sz="1300" b="1" dirty="0">
                <a:solidFill>
                  <a:schemeClr val="accent2"/>
                </a:solidFill>
              </a:rPr>
              <a:t>Leave</a:t>
            </a:r>
            <a:endParaRPr lang="en-IN" dirty="0">
              <a:solidFill>
                <a:schemeClr val="accent2"/>
              </a:solidFill>
            </a:endParaRPr>
          </a:p>
        </p:txBody>
      </p:sp>
      <p:sp>
        <p:nvSpPr>
          <p:cNvPr id="56" name="TextBox 55">
            <a:extLst>
              <a:ext uri="{FF2B5EF4-FFF2-40B4-BE49-F238E27FC236}">
                <a16:creationId xmlns:a16="http://schemas.microsoft.com/office/drawing/2014/main" id="{194A6180-08A9-07B0-D26F-F3F488798EAF}"/>
              </a:ext>
            </a:extLst>
          </p:cNvPr>
          <p:cNvSpPr txBox="1"/>
          <p:nvPr/>
        </p:nvSpPr>
        <p:spPr>
          <a:xfrm>
            <a:off x="6838816" y="2165284"/>
            <a:ext cx="1364742" cy="276999"/>
          </a:xfrm>
          <a:prstGeom prst="rect">
            <a:avLst/>
          </a:prstGeom>
          <a:noFill/>
        </p:spPr>
        <p:txBody>
          <a:bodyPr wrap="square">
            <a:spAutoFit/>
          </a:bodyPr>
          <a:lstStyle/>
          <a:p>
            <a:r>
              <a:rPr lang="en-IN" sz="1200" b="1" dirty="0">
                <a:solidFill>
                  <a:schemeClr val="accent2"/>
                </a:solidFill>
              </a:rPr>
              <a:t>Allocate</a:t>
            </a:r>
            <a:r>
              <a:rPr lang="en-IN" sz="1200" b="1" dirty="0">
                <a:solidFill>
                  <a:srgbClr val="FFC000"/>
                </a:solidFill>
              </a:rPr>
              <a:t> </a:t>
            </a:r>
            <a:r>
              <a:rPr lang="en-IN" sz="1200" b="1" dirty="0">
                <a:solidFill>
                  <a:schemeClr val="accent2"/>
                </a:solidFill>
              </a:rPr>
              <a:t>Leaves</a:t>
            </a:r>
            <a:endParaRPr lang="en-IN" dirty="0">
              <a:solidFill>
                <a:schemeClr val="accent2"/>
              </a:solidFill>
            </a:endParaRPr>
          </a:p>
        </p:txBody>
      </p:sp>
      <p:sp>
        <p:nvSpPr>
          <p:cNvPr id="58" name="TextBox 57">
            <a:extLst>
              <a:ext uri="{FF2B5EF4-FFF2-40B4-BE49-F238E27FC236}">
                <a16:creationId xmlns:a16="http://schemas.microsoft.com/office/drawing/2014/main" id="{8CAB6DE5-78CD-AEF4-4385-D78E31A2DC91}"/>
              </a:ext>
            </a:extLst>
          </p:cNvPr>
          <p:cNvSpPr txBox="1"/>
          <p:nvPr/>
        </p:nvSpPr>
        <p:spPr>
          <a:xfrm>
            <a:off x="10418561" y="2192065"/>
            <a:ext cx="1364742" cy="292388"/>
          </a:xfrm>
          <a:prstGeom prst="rect">
            <a:avLst/>
          </a:prstGeom>
          <a:noFill/>
        </p:spPr>
        <p:txBody>
          <a:bodyPr wrap="square">
            <a:spAutoFit/>
          </a:bodyPr>
          <a:lstStyle/>
          <a:p>
            <a:r>
              <a:rPr lang="en-IN" sz="1300" b="1" dirty="0">
                <a:solidFill>
                  <a:schemeClr val="accent2"/>
                </a:solidFill>
              </a:rPr>
              <a:t>Leave Types</a:t>
            </a:r>
            <a:endParaRPr lang="en-IN" dirty="0">
              <a:solidFill>
                <a:schemeClr val="accent2"/>
              </a:solidFill>
            </a:endParaRPr>
          </a:p>
        </p:txBody>
      </p:sp>
      <p:sp>
        <p:nvSpPr>
          <p:cNvPr id="60" name="TextBox 59">
            <a:extLst>
              <a:ext uri="{FF2B5EF4-FFF2-40B4-BE49-F238E27FC236}">
                <a16:creationId xmlns:a16="http://schemas.microsoft.com/office/drawing/2014/main" id="{660B4407-D828-000A-861B-B0331BE64187}"/>
              </a:ext>
            </a:extLst>
          </p:cNvPr>
          <p:cNvSpPr txBox="1"/>
          <p:nvPr/>
        </p:nvSpPr>
        <p:spPr>
          <a:xfrm>
            <a:off x="9369707" y="4804544"/>
            <a:ext cx="1364742" cy="292388"/>
          </a:xfrm>
          <a:prstGeom prst="rect">
            <a:avLst/>
          </a:prstGeom>
          <a:noFill/>
        </p:spPr>
        <p:txBody>
          <a:bodyPr wrap="square">
            <a:spAutoFit/>
          </a:bodyPr>
          <a:lstStyle/>
          <a:p>
            <a:r>
              <a:rPr lang="en-IN" sz="1300" b="1" dirty="0">
                <a:solidFill>
                  <a:schemeClr val="accent2"/>
                </a:solidFill>
              </a:rPr>
              <a:t>Public Holidays</a:t>
            </a:r>
            <a:endParaRPr lang="en-IN" dirty="0">
              <a:solidFill>
                <a:schemeClr val="accent2"/>
              </a:solidFill>
            </a:endParaRPr>
          </a:p>
        </p:txBody>
      </p:sp>
      <p:cxnSp>
        <p:nvCxnSpPr>
          <p:cNvPr id="61" name="Straight Arrow Connector 60">
            <a:extLst>
              <a:ext uri="{FF2B5EF4-FFF2-40B4-BE49-F238E27FC236}">
                <a16:creationId xmlns:a16="http://schemas.microsoft.com/office/drawing/2014/main" id="{4CF0640C-290B-A1C9-CBFD-C607B99A610A}"/>
              </a:ext>
            </a:extLst>
          </p:cNvPr>
          <p:cNvCxnSpPr>
            <a:cxnSpLocks/>
          </p:cNvCxnSpPr>
          <p:nvPr/>
        </p:nvCxnSpPr>
        <p:spPr>
          <a:xfrm>
            <a:off x="2743201" y="3429000"/>
            <a:ext cx="344588" cy="1143"/>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62" name="Straight Arrow Connector 61">
            <a:extLst>
              <a:ext uri="{FF2B5EF4-FFF2-40B4-BE49-F238E27FC236}">
                <a16:creationId xmlns:a16="http://schemas.microsoft.com/office/drawing/2014/main" id="{CA989678-D801-D04F-38C1-80C8CD614CEC}"/>
              </a:ext>
            </a:extLst>
          </p:cNvPr>
          <p:cNvCxnSpPr>
            <a:cxnSpLocks/>
          </p:cNvCxnSpPr>
          <p:nvPr/>
        </p:nvCxnSpPr>
        <p:spPr>
          <a:xfrm>
            <a:off x="5650845" y="3323827"/>
            <a:ext cx="304800"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63" name="Straight Arrow Connector 62">
            <a:extLst>
              <a:ext uri="{FF2B5EF4-FFF2-40B4-BE49-F238E27FC236}">
                <a16:creationId xmlns:a16="http://schemas.microsoft.com/office/drawing/2014/main" id="{07EE50CF-C322-4BE8-B52E-B78FF3C9A5A6}"/>
              </a:ext>
            </a:extLst>
          </p:cNvPr>
          <p:cNvCxnSpPr>
            <a:cxnSpLocks/>
            <a:stCxn id="39" idx="3"/>
            <a:endCxn id="41" idx="1"/>
          </p:cNvCxnSpPr>
          <p:nvPr/>
        </p:nvCxnSpPr>
        <p:spPr>
          <a:xfrm flipV="1">
            <a:off x="9088312" y="3375416"/>
            <a:ext cx="316968" cy="13323"/>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64" name="Straight Arrow Connector 63">
            <a:extLst>
              <a:ext uri="{FF2B5EF4-FFF2-40B4-BE49-F238E27FC236}">
                <a16:creationId xmlns:a16="http://schemas.microsoft.com/office/drawing/2014/main" id="{26CF3BFD-F06F-5A88-F4DC-C4872182BF5E}"/>
              </a:ext>
            </a:extLst>
          </p:cNvPr>
          <p:cNvCxnSpPr>
            <a:cxnSpLocks/>
          </p:cNvCxnSpPr>
          <p:nvPr/>
        </p:nvCxnSpPr>
        <p:spPr>
          <a:xfrm>
            <a:off x="10807595" y="4320689"/>
            <a:ext cx="0" cy="759776"/>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9209" y="96012"/>
            <a:ext cx="10972800" cy="502920"/>
          </a:xfrm>
          <a:prstGeom prst="rect">
            <a:avLst/>
          </a:prstGeom>
          <a:noFill/>
        </p:spPr>
        <p:txBody>
          <a:bodyPr wrap="none">
            <a:spAutoFit/>
          </a:bodyPr>
          <a:lstStyle/>
          <a:p>
            <a:pPr>
              <a:defRPr sz="2500" b="1">
                <a:solidFill>
                  <a:srgbClr val="16375E"/>
                </a:solidFill>
              </a:defRPr>
            </a:pPr>
            <a:r>
              <a:rPr dirty="0"/>
              <a:t>7. Attendance</a:t>
            </a:r>
          </a:p>
        </p:txBody>
      </p:sp>
      <p:sp>
        <p:nvSpPr>
          <p:cNvPr id="4" name="Rounded Rectangle 3"/>
          <p:cNvSpPr/>
          <p:nvPr/>
        </p:nvSpPr>
        <p:spPr>
          <a:xfrm>
            <a:off x="376232" y="623277"/>
            <a:ext cx="899159" cy="877923"/>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rPr dirty="0"/>
              <a:t>Check-In</a:t>
            </a:r>
          </a:p>
          <a:p>
            <a:pPr>
              <a:defRPr sz="950">
                <a:solidFill>
                  <a:srgbClr val="2D343C"/>
                </a:solidFill>
              </a:defRPr>
            </a:pPr>
            <a:r>
              <a:rPr dirty="0"/>
              <a:t>Start work</a:t>
            </a:r>
          </a:p>
        </p:txBody>
      </p:sp>
      <p:cxnSp>
        <p:nvCxnSpPr>
          <p:cNvPr id="5" name="Connector 4"/>
          <p:cNvCxnSpPr>
            <a:cxnSpLocks/>
          </p:cNvCxnSpPr>
          <p:nvPr/>
        </p:nvCxnSpPr>
        <p:spPr>
          <a:xfrm>
            <a:off x="1275391" y="998182"/>
            <a:ext cx="216406" cy="0"/>
          </a:xfrm>
          <a:prstGeom prst="line">
            <a:avLst/>
          </a:prstGeom>
          <a:ln>
            <a:solidFill>
              <a:srgbClr val="267E8B"/>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491797" y="623277"/>
            <a:ext cx="1008887" cy="877923"/>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rPr dirty="0"/>
              <a:t>Check-Out</a:t>
            </a:r>
          </a:p>
          <a:p>
            <a:pPr>
              <a:defRPr sz="950">
                <a:solidFill>
                  <a:srgbClr val="2D343C"/>
                </a:solidFill>
              </a:defRPr>
            </a:pPr>
            <a:r>
              <a:rPr dirty="0"/>
              <a:t>End work</a:t>
            </a:r>
          </a:p>
        </p:txBody>
      </p:sp>
      <p:cxnSp>
        <p:nvCxnSpPr>
          <p:cNvPr id="7" name="Connector 6"/>
          <p:cNvCxnSpPr>
            <a:cxnSpLocks/>
          </p:cNvCxnSpPr>
          <p:nvPr/>
        </p:nvCxnSpPr>
        <p:spPr>
          <a:xfrm>
            <a:off x="2511817" y="1036820"/>
            <a:ext cx="160088" cy="0"/>
          </a:xfrm>
          <a:prstGeom prst="line">
            <a:avLst/>
          </a:prstGeom>
          <a:ln>
            <a:solidFill>
              <a:srgbClr val="267E8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671905" y="623277"/>
            <a:ext cx="1213103" cy="877923"/>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rPr dirty="0"/>
              <a:t>Attendance</a:t>
            </a:r>
          </a:p>
          <a:p>
            <a:pPr>
              <a:defRPr sz="950">
                <a:solidFill>
                  <a:srgbClr val="2D343C"/>
                </a:solidFill>
              </a:defRPr>
            </a:pPr>
            <a:r>
              <a:rPr dirty="0"/>
              <a:t>Record punches</a:t>
            </a:r>
            <a:r>
              <a:rPr lang="en-US" dirty="0"/>
              <a:t> in overview</a:t>
            </a:r>
            <a:endParaRPr dirty="0"/>
          </a:p>
        </p:txBody>
      </p:sp>
      <p:cxnSp>
        <p:nvCxnSpPr>
          <p:cNvPr id="9" name="Connector 8"/>
          <p:cNvCxnSpPr>
            <a:cxnSpLocks/>
          </p:cNvCxnSpPr>
          <p:nvPr/>
        </p:nvCxnSpPr>
        <p:spPr>
          <a:xfrm>
            <a:off x="6594814" y="998182"/>
            <a:ext cx="203421" cy="0"/>
          </a:xfrm>
          <a:prstGeom prst="line">
            <a:avLst/>
          </a:prstGeom>
          <a:ln>
            <a:solidFill>
              <a:srgbClr val="267E8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76232" y="1749291"/>
            <a:ext cx="2636788" cy="936024"/>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rPr lang="en-US" dirty="0"/>
              <a:t>Bulk Attendance Entry</a:t>
            </a:r>
            <a:endParaRPr dirty="0"/>
          </a:p>
          <a:p>
            <a:pPr>
              <a:defRPr sz="950">
                <a:solidFill>
                  <a:srgbClr val="2D343C"/>
                </a:solidFill>
              </a:defRPr>
            </a:pPr>
            <a:r>
              <a:rPr lang="en-IN" sz="900" dirty="0">
                <a:solidFill>
                  <a:srgbClr val="2D343C"/>
                </a:solidFill>
              </a:rPr>
              <a:t>Here we can enter attendance for multiple employees at once instead of updating each employee individually. HR can select the required date and enter the attendance details for all selected employees in a single operation.</a:t>
            </a:r>
            <a:endParaRPr sz="900" dirty="0"/>
          </a:p>
        </p:txBody>
      </p:sp>
      <p:cxnSp>
        <p:nvCxnSpPr>
          <p:cNvPr id="11" name="Connector 10"/>
          <p:cNvCxnSpPr>
            <a:cxnSpLocks/>
          </p:cNvCxnSpPr>
          <p:nvPr/>
        </p:nvCxnSpPr>
        <p:spPr>
          <a:xfrm>
            <a:off x="9083572" y="1036820"/>
            <a:ext cx="239070" cy="0"/>
          </a:xfrm>
          <a:prstGeom prst="line">
            <a:avLst/>
          </a:prstGeom>
          <a:ln>
            <a:solidFill>
              <a:srgbClr val="267E8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78456" y="1761724"/>
            <a:ext cx="2000416" cy="921351"/>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rPr dirty="0"/>
              <a:t>Sources</a:t>
            </a:r>
          </a:p>
          <a:p>
            <a:pPr>
              <a:defRPr sz="950">
                <a:solidFill>
                  <a:srgbClr val="2D343C"/>
                </a:solidFill>
              </a:defRPr>
            </a:pPr>
            <a:r>
              <a:rPr dirty="0"/>
              <a:t>Biometric / Time Office</a:t>
            </a:r>
          </a:p>
          <a:p>
            <a:pPr>
              <a:defRPr sz="950">
                <a:solidFill>
                  <a:srgbClr val="2D343C"/>
                </a:solidFill>
              </a:defRPr>
            </a:pPr>
            <a:r>
              <a:rPr dirty="0"/>
              <a:t>Configured attendance systems</a:t>
            </a:r>
          </a:p>
          <a:p>
            <a:pPr>
              <a:defRPr sz="950">
                <a:solidFill>
                  <a:srgbClr val="2D343C"/>
                </a:solidFill>
              </a:defRPr>
            </a:pPr>
            <a:r>
              <a:rPr dirty="0"/>
              <a:t>Check-in / check-out</a:t>
            </a:r>
          </a:p>
        </p:txBody>
      </p:sp>
      <p:sp>
        <p:nvSpPr>
          <p:cNvPr id="16" name="Rounded Rectangle 15"/>
          <p:cNvSpPr/>
          <p:nvPr/>
        </p:nvSpPr>
        <p:spPr>
          <a:xfrm>
            <a:off x="5491525" y="1783555"/>
            <a:ext cx="1758699" cy="917772"/>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t>Processing</a:t>
            </a:r>
          </a:p>
          <a:p>
            <a:pPr>
              <a:defRPr sz="950">
                <a:solidFill>
                  <a:srgbClr val="2D343C"/>
                </a:solidFill>
              </a:defRPr>
            </a:pPr>
            <a:r>
              <a:t>Shift handling</a:t>
            </a:r>
          </a:p>
          <a:p>
            <a:pPr>
              <a:defRPr sz="950">
                <a:solidFill>
                  <a:srgbClr val="2D343C"/>
                </a:solidFill>
              </a:defRPr>
            </a:pPr>
            <a:r>
              <a:t>Overtime</a:t>
            </a:r>
          </a:p>
          <a:p>
            <a:pPr>
              <a:defRPr sz="950">
                <a:solidFill>
                  <a:srgbClr val="2D343C"/>
                </a:solidFill>
              </a:defRPr>
            </a:pPr>
            <a:r>
              <a:t>Late / early exceptions</a:t>
            </a:r>
          </a:p>
          <a:p>
            <a:pPr>
              <a:defRPr sz="950">
                <a:solidFill>
                  <a:srgbClr val="2D343C"/>
                </a:solidFill>
              </a:defRPr>
            </a:pPr>
            <a:r>
              <a:t>Missing attendance</a:t>
            </a:r>
          </a:p>
        </p:txBody>
      </p:sp>
      <p:sp>
        <p:nvSpPr>
          <p:cNvPr id="17" name="Rounded Rectangle 16"/>
          <p:cNvSpPr/>
          <p:nvPr/>
        </p:nvSpPr>
        <p:spPr>
          <a:xfrm>
            <a:off x="7462877" y="1747051"/>
            <a:ext cx="1844039" cy="936024"/>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rPr dirty="0"/>
              <a:t>Payroll Link</a:t>
            </a:r>
          </a:p>
          <a:p>
            <a:pPr>
              <a:defRPr sz="950">
                <a:solidFill>
                  <a:srgbClr val="2D343C"/>
                </a:solidFill>
              </a:defRPr>
            </a:pPr>
            <a:r>
              <a:rPr dirty="0"/>
              <a:t>Workday information</a:t>
            </a:r>
          </a:p>
          <a:p>
            <a:pPr>
              <a:defRPr sz="950">
                <a:solidFill>
                  <a:srgbClr val="2D343C"/>
                </a:solidFill>
              </a:defRPr>
            </a:pPr>
            <a:r>
              <a:rPr dirty="0"/>
              <a:t>Work entries</a:t>
            </a:r>
          </a:p>
          <a:p>
            <a:pPr>
              <a:defRPr sz="950">
                <a:solidFill>
                  <a:srgbClr val="2D343C"/>
                </a:solidFill>
              </a:defRPr>
            </a:pPr>
            <a:r>
              <a:rPr dirty="0"/>
              <a:t>Validate before payroll</a:t>
            </a:r>
          </a:p>
        </p:txBody>
      </p:sp>
      <p:cxnSp>
        <p:nvCxnSpPr>
          <p:cNvPr id="19" name="Connector 8">
            <a:extLst>
              <a:ext uri="{FF2B5EF4-FFF2-40B4-BE49-F238E27FC236}">
                <a16:creationId xmlns:a16="http://schemas.microsoft.com/office/drawing/2014/main" id="{B718CD89-337C-CC4E-6C18-A4A1EF67A6A1}"/>
              </a:ext>
            </a:extLst>
          </p:cNvPr>
          <p:cNvCxnSpPr>
            <a:cxnSpLocks/>
          </p:cNvCxnSpPr>
          <p:nvPr/>
        </p:nvCxnSpPr>
        <p:spPr>
          <a:xfrm>
            <a:off x="3907273" y="1035701"/>
            <a:ext cx="171746" cy="1119"/>
          </a:xfrm>
          <a:prstGeom prst="line">
            <a:avLst/>
          </a:prstGeom>
          <a:ln>
            <a:solidFill>
              <a:srgbClr val="267E8B"/>
            </a:solidFill>
          </a:ln>
        </p:spPr>
        <p:style>
          <a:lnRef idx="2">
            <a:schemeClr val="accent1"/>
          </a:lnRef>
          <a:fillRef idx="0">
            <a:schemeClr val="accent1"/>
          </a:fillRef>
          <a:effectRef idx="1">
            <a:schemeClr val="accent1"/>
          </a:effectRef>
          <a:fontRef idx="minor">
            <a:schemeClr val="tx1"/>
          </a:fontRef>
        </p:style>
      </p:cxnSp>
      <p:sp>
        <p:nvSpPr>
          <p:cNvPr id="20" name="Rounded Rectangle 9">
            <a:extLst>
              <a:ext uri="{FF2B5EF4-FFF2-40B4-BE49-F238E27FC236}">
                <a16:creationId xmlns:a16="http://schemas.microsoft.com/office/drawing/2014/main" id="{E4D8591A-2348-1297-9954-20024B9662FA}"/>
              </a:ext>
            </a:extLst>
          </p:cNvPr>
          <p:cNvSpPr/>
          <p:nvPr/>
        </p:nvSpPr>
        <p:spPr>
          <a:xfrm>
            <a:off x="4079019" y="623277"/>
            <a:ext cx="2517912" cy="881501"/>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rPr lang="en-US" sz="1100" dirty="0"/>
              <a:t>Attendance Report </a:t>
            </a:r>
            <a:endParaRPr sz="1100" dirty="0"/>
          </a:p>
          <a:p>
            <a:pPr>
              <a:defRPr sz="950">
                <a:solidFill>
                  <a:srgbClr val="2D343C"/>
                </a:solidFill>
              </a:defRPr>
            </a:pPr>
            <a:r>
              <a:rPr lang="en-IN" sz="900" dirty="0">
                <a:solidFill>
                  <a:srgbClr val="2D343C"/>
                </a:solidFill>
              </a:rPr>
              <a:t>Here we can generate an attendance report for a particular employee by selecting the required month. The report shows the employee’s attendance details for the selected month</a:t>
            </a:r>
            <a:endParaRPr sz="900" dirty="0"/>
          </a:p>
        </p:txBody>
      </p:sp>
      <p:sp>
        <p:nvSpPr>
          <p:cNvPr id="22" name="Rounded Rectangle 11">
            <a:extLst>
              <a:ext uri="{FF2B5EF4-FFF2-40B4-BE49-F238E27FC236}">
                <a16:creationId xmlns:a16="http://schemas.microsoft.com/office/drawing/2014/main" id="{E38AF4A7-1FA9-2236-1476-2C08242CB33B}"/>
              </a:ext>
            </a:extLst>
          </p:cNvPr>
          <p:cNvSpPr/>
          <p:nvPr/>
        </p:nvSpPr>
        <p:spPr>
          <a:xfrm>
            <a:off x="6798235" y="623228"/>
            <a:ext cx="2263072" cy="824947"/>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rPr lang="en-US" sz="1200" dirty="0"/>
              <a:t>Dily Attendance Summary</a:t>
            </a:r>
            <a:endParaRPr sz="1200" dirty="0"/>
          </a:p>
          <a:p>
            <a:pPr>
              <a:defRPr sz="950">
                <a:solidFill>
                  <a:srgbClr val="2D343C"/>
                </a:solidFill>
              </a:defRPr>
            </a:pPr>
            <a:r>
              <a:rPr lang="en-IN" sz="900" dirty="0">
                <a:solidFill>
                  <a:srgbClr val="2D343C"/>
                </a:solidFill>
              </a:rPr>
              <a:t>Here we can view the daily attendance details of employees, including who is present, absent, on leave, or has incomplete attendance.</a:t>
            </a:r>
            <a:endParaRPr sz="900" dirty="0"/>
          </a:p>
        </p:txBody>
      </p:sp>
      <p:sp>
        <p:nvSpPr>
          <p:cNvPr id="24" name="Rounded Rectangle 13">
            <a:extLst>
              <a:ext uri="{FF2B5EF4-FFF2-40B4-BE49-F238E27FC236}">
                <a16:creationId xmlns:a16="http://schemas.microsoft.com/office/drawing/2014/main" id="{26065E8E-B428-360B-FA3D-81D218D98D16}"/>
              </a:ext>
            </a:extLst>
          </p:cNvPr>
          <p:cNvSpPr/>
          <p:nvPr/>
        </p:nvSpPr>
        <p:spPr>
          <a:xfrm>
            <a:off x="9344907" y="623277"/>
            <a:ext cx="2441314" cy="824898"/>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rPr lang="en-IN" sz="1300" b="1" dirty="0">
                <a:solidFill>
                  <a:srgbClr val="267E8B"/>
                </a:solidFill>
              </a:rPr>
              <a:t>Attendance Master Report</a:t>
            </a:r>
            <a:br>
              <a:rPr lang="en-IN" sz="1300" b="1" dirty="0">
                <a:solidFill>
                  <a:srgbClr val="267E8B"/>
                </a:solidFill>
              </a:rPr>
            </a:br>
            <a:r>
              <a:rPr lang="en-IN" sz="900" dirty="0">
                <a:solidFill>
                  <a:srgbClr val="2D343C"/>
                </a:solidFill>
              </a:rPr>
              <a:t>Here we can generate the attendance report for all employees at once. The report provides a complete overview of employee attendance</a:t>
            </a:r>
            <a:endParaRPr sz="900" dirty="0"/>
          </a:p>
        </p:txBody>
      </p:sp>
      <p:cxnSp>
        <p:nvCxnSpPr>
          <p:cNvPr id="33" name="Connector 8">
            <a:extLst>
              <a:ext uri="{FF2B5EF4-FFF2-40B4-BE49-F238E27FC236}">
                <a16:creationId xmlns:a16="http://schemas.microsoft.com/office/drawing/2014/main" id="{CAB1FE19-8694-4AD7-0A27-FA8C5A51E113}"/>
              </a:ext>
            </a:extLst>
          </p:cNvPr>
          <p:cNvCxnSpPr>
            <a:cxnSpLocks/>
          </p:cNvCxnSpPr>
          <p:nvPr/>
        </p:nvCxnSpPr>
        <p:spPr>
          <a:xfrm>
            <a:off x="5278872" y="2216057"/>
            <a:ext cx="203421" cy="0"/>
          </a:xfrm>
          <a:prstGeom prst="line">
            <a:avLst/>
          </a:prstGeom>
          <a:ln>
            <a:solidFill>
              <a:srgbClr val="267E8B"/>
            </a:solidFill>
          </a:ln>
        </p:spPr>
        <p:style>
          <a:lnRef idx="2">
            <a:schemeClr val="accent1"/>
          </a:lnRef>
          <a:fillRef idx="0">
            <a:schemeClr val="accent1"/>
          </a:fillRef>
          <a:effectRef idx="1">
            <a:schemeClr val="accent1"/>
          </a:effectRef>
          <a:fontRef idx="minor">
            <a:schemeClr val="tx1"/>
          </a:fontRef>
        </p:style>
      </p:cxnSp>
      <p:cxnSp>
        <p:nvCxnSpPr>
          <p:cNvPr id="34" name="Connector 8">
            <a:extLst>
              <a:ext uri="{FF2B5EF4-FFF2-40B4-BE49-F238E27FC236}">
                <a16:creationId xmlns:a16="http://schemas.microsoft.com/office/drawing/2014/main" id="{2487DC4A-42BD-5DCE-B400-F67DEDDEAC96}"/>
              </a:ext>
            </a:extLst>
          </p:cNvPr>
          <p:cNvCxnSpPr>
            <a:cxnSpLocks/>
          </p:cNvCxnSpPr>
          <p:nvPr/>
        </p:nvCxnSpPr>
        <p:spPr>
          <a:xfrm>
            <a:off x="7259456" y="2222399"/>
            <a:ext cx="203421" cy="0"/>
          </a:xfrm>
          <a:prstGeom prst="line">
            <a:avLst/>
          </a:prstGeom>
          <a:ln>
            <a:solidFill>
              <a:srgbClr val="267E8B"/>
            </a:solidFill>
          </a:ln>
        </p:spPr>
        <p:style>
          <a:lnRef idx="2">
            <a:schemeClr val="accent1"/>
          </a:lnRef>
          <a:fillRef idx="0">
            <a:schemeClr val="accent1"/>
          </a:fillRef>
          <a:effectRef idx="1">
            <a:schemeClr val="accent1"/>
          </a:effectRef>
          <a:fontRef idx="minor">
            <a:schemeClr val="tx1"/>
          </a:fontRef>
        </p:style>
      </p:cxnSp>
      <p:cxnSp>
        <p:nvCxnSpPr>
          <p:cNvPr id="35" name="Connector 10">
            <a:extLst>
              <a:ext uri="{FF2B5EF4-FFF2-40B4-BE49-F238E27FC236}">
                <a16:creationId xmlns:a16="http://schemas.microsoft.com/office/drawing/2014/main" id="{9D178CEB-382D-A888-FBAD-714FC9A0D8AC}"/>
              </a:ext>
            </a:extLst>
          </p:cNvPr>
          <p:cNvCxnSpPr>
            <a:cxnSpLocks/>
          </p:cNvCxnSpPr>
          <p:nvPr/>
        </p:nvCxnSpPr>
        <p:spPr>
          <a:xfrm>
            <a:off x="3013020" y="2215063"/>
            <a:ext cx="239070" cy="0"/>
          </a:xfrm>
          <a:prstGeom prst="line">
            <a:avLst/>
          </a:prstGeom>
          <a:ln>
            <a:solidFill>
              <a:srgbClr val="267E8B"/>
            </a:solidFill>
          </a:ln>
        </p:spPr>
        <p:style>
          <a:lnRef idx="2">
            <a:schemeClr val="accent1"/>
          </a:lnRef>
          <a:fillRef idx="0">
            <a:schemeClr val="accent1"/>
          </a:fillRef>
          <a:effectRef idx="1">
            <a:schemeClr val="accent1"/>
          </a:effectRef>
          <a:fontRef idx="minor">
            <a:schemeClr val="tx1"/>
          </a:fontRef>
        </p:style>
      </p:cxnSp>
      <p:pic>
        <p:nvPicPr>
          <p:cNvPr id="48" name="Picture 47">
            <a:extLst>
              <a:ext uri="{FF2B5EF4-FFF2-40B4-BE49-F238E27FC236}">
                <a16:creationId xmlns:a16="http://schemas.microsoft.com/office/drawing/2014/main" id="{7768CF3C-CD5B-A800-C331-7020C551CE6C}"/>
              </a:ext>
            </a:extLst>
          </p:cNvPr>
          <p:cNvPicPr>
            <a:picLocks noChangeAspect="1"/>
          </p:cNvPicPr>
          <p:nvPr/>
        </p:nvPicPr>
        <p:blipFill>
          <a:blip r:embed="rId2"/>
          <a:stretch>
            <a:fillRect/>
          </a:stretch>
        </p:blipFill>
        <p:spPr>
          <a:xfrm>
            <a:off x="294270" y="2936602"/>
            <a:ext cx="3978343" cy="1911167"/>
          </a:xfrm>
          <a:prstGeom prst="rect">
            <a:avLst/>
          </a:prstGeom>
        </p:spPr>
      </p:pic>
      <p:sp>
        <p:nvSpPr>
          <p:cNvPr id="49" name="Arrow: Up 48">
            <a:extLst>
              <a:ext uri="{FF2B5EF4-FFF2-40B4-BE49-F238E27FC236}">
                <a16:creationId xmlns:a16="http://schemas.microsoft.com/office/drawing/2014/main" id="{D7301010-A7C2-AEBA-33FA-843A6F412FFA}"/>
              </a:ext>
            </a:extLst>
          </p:cNvPr>
          <p:cNvSpPr/>
          <p:nvPr/>
        </p:nvSpPr>
        <p:spPr>
          <a:xfrm>
            <a:off x="986665" y="3050499"/>
            <a:ext cx="45719" cy="17417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Arrow: Up 50">
            <a:extLst>
              <a:ext uri="{FF2B5EF4-FFF2-40B4-BE49-F238E27FC236}">
                <a16:creationId xmlns:a16="http://schemas.microsoft.com/office/drawing/2014/main" id="{5C0F5D23-6B5C-3764-20A1-40768787BB62}"/>
              </a:ext>
            </a:extLst>
          </p:cNvPr>
          <p:cNvSpPr/>
          <p:nvPr/>
        </p:nvSpPr>
        <p:spPr>
          <a:xfrm>
            <a:off x="1410665" y="3039654"/>
            <a:ext cx="45719" cy="17417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3" name="Arrow: Up 52">
            <a:extLst>
              <a:ext uri="{FF2B5EF4-FFF2-40B4-BE49-F238E27FC236}">
                <a16:creationId xmlns:a16="http://schemas.microsoft.com/office/drawing/2014/main" id="{CCCE28E8-D66A-756B-998F-52376A726881}"/>
              </a:ext>
            </a:extLst>
          </p:cNvPr>
          <p:cNvSpPr/>
          <p:nvPr/>
        </p:nvSpPr>
        <p:spPr>
          <a:xfrm>
            <a:off x="1755765" y="3054466"/>
            <a:ext cx="45719" cy="17417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Arrow: Up 54">
            <a:extLst>
              <a:ext uri="{FF2B5EF4-FFF2-40B4-BE49-F238E27FC236}">
                <a16:creationId xmlns:a16="http://schemas.microsoft.com/office/drawing/2014/main" id="{CFD52361-FC81-AFF5-1079-0BA6166F3733}"/>
              </a:ext>
            </a:extLst>
          </p:cNvPr>
          <p:cNvSpPr/>
          <p:nvPr/>
        </p:nvSpPr>
        <p:spPr>
          <a:xfrm>
            <a:off x="2142001" y="3073400"/>
            <a:ext cx="45719" cy="17417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7" name="Arrow: Up 56">
            <a:extLst>
              <a:ext uri="{FF2B5EF4-FFF2-40B4-BE49-F238E27FC236}">
                <a16:creationId xmlns:a16="http://schemas.microsoft.com/office/drawing/2014/main" id="{AAA5796C-9616-ED47-2C8D-AEAC19183E0D}"/>
              </a:ext>
            </a:extLst>
          </p:cNvPr>
          <p:cNvSpPr/>
          <p:nvPr/>
        </p:nvSpPr>
        <p:spPr>
          <a:xfrm rot="5400000">
            <a:off x="2994718" y="3051110"/>
            <a:ext cx="45719" cy="17417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9" name="Picture 58">
            <a:extLst>
              <a:ext uri="{FF2B5EF4-FFF2-40B4-BE49-F238E27FC236}">
                <a16:creationId xmlns:a16="http://schemas.microsoft.com/office/drawing/2014/main" id="{299EA410-CEF5-E22A-89C4-AB266976276B}"/>
              </a:ext>
            </a:extLst>
          </p:cNvPr>
          <p:cNvPicPr>
            <a:picLocks noChangeAspect="1"/>
          </p:cNvPicPr>
          <p:nvPr/>
        </p:nvPicPr>
        <p:blipFill>
          <a:blip r:embed="rId3"/>
          <a:stretch>
            <a:fillRect/>
          </a:stretch>
        </p:blipFill>
        <p:spPr>
          <a:xfrm>
            <a:off x="4580126" y="2980105"/>
            <a:ext cx="3703332" cy="1867662"/>
          </a:xfrm>
          <a:prstGeom prst="rect">
            <a:avLst/>
          </a:prstGeom>
        </p:spPr>
      </p:pic>
      <p:sp>
        <p:nvSpPr>
          <p:cNvPr id="61" name="Arrow: Up 60">
            <a:extLst>
              <a:ext uri="{FF2B5EF4-FFF2-40B4-BE49-F238E27FC236}">
                <a16:creationId xmlns:a16="http://schemas.microsoft.com/office/drawing/2014/main" id="{ABB5DFF3-CA16-1637-18D6-A07DDFA090D7}"/>
              </a:ext>
            </a:extLst>
          </p:cNvPr>
          <p:cNvSpPr/>
          <p:nvPr/>
        </p:nvSpPr>
        <p:spPr>
          <a:xfrm>
            <a:off x="5491525" y="3054466"/>
            <a:ext cx="45719" cy="17417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63" name="Picture 62">
            <a:extLst>
              <a:ext uri="{FF2B5EF4-FFF2-40B4-BE49-F238E27FC236}">
                <a16:creationId xmlns:a16="http://schemas.microsoft.com/office/drawing/2014/main" id="{98998C28-B0A6-C0D2-90B9-E874854025F0}"/>
              </a:ext>
            </a:extLst>
          </p:cNvPr>
          <p:cNvPicPr>
            <a:picLocks noChangeAspect="1"/>
          </p:cNvPicPr>
          <p:nvPr/>
        </p:nvPicPr>
        <p:blipFill>
          <a:blip r:embed="rId4"/>
          <a:stretch>
            <a:fillRect/>
          </a:stretch>
        </p:blipFill>
        <p:spPr>
          <a:xfrm>
            <a:off x="8590972" y="2980105"/>
            <a:ext cx="3195249" cy="1867662"/>
          </a:xfrm>
          <a:prstGeom prst="rect">
            <a:avLst/>
          </a:prstGeom>
        </p:spPr>
      </p:pic>
      <p:pic>
        <p:nvPicPr>
          <p:cNvPr id="65" name="Picture 64">
            <a:extLst>
              <a:ext uri="{FF2B5EF4-FFF2-40B4-BE49-F238E27FC236}">
                <a16:creationId xmlns:a16="http://schemas.microsoft.com/office/drawing/2014/main" id="{F21B50F9-EA17-BD26-C501-70FA4E3C1352}"/>
              </a:ext>
            </a:extLst>
          </p:cNvPr>
          <p:cNvPicPr>
            <a:picLocks noChangeAspect="1"/>
          </p:cNvPicPr>
          <p:nvPr/>
        </p:nvPicPr>
        <p:blipFill>
          <a:blip r:embed="rId5"/>
          <a:stretch>
            <a:fillRect/>
          </a:stretch>
        </p:blipFill>
        <p:spPr>
          <a:xfrm>
            <a:off x="4759126" y="5082500"/>
            <a:ext cx="4381108" cy="1713928"/>
          </a:xfrm>
          <a:prstGeom prst="rect">
            <a:avLst/>
          </a:prstGeom>
        </p:spPr>
      </p:pic>
      <p:cxnSp>
        <p:nvCxnSpPr>
          <p:cNvPr id="66" name="Straight Arrow Connector 65">
            <a:extLst>
              <a:ext uri="{FF2B5EF4-FFF2-40B4-BE49-F238E27FC236}">
                <a16:creationId xmlns:a16="http://schemas.microsoft.com/office/drawing/2014/main" id="{6C563B88-467E-AAA9-552B-0A01488BDF67}"/>
              </a:ext>
            </a:extLst>
          </p:cNvPr>
          <p:cNvCxnSpPr>
            <a:cxnSpLocks/>
          </p:cNvCxnSpPr>
          <p:nvPr/>
        </p:nvCxnSpPr>
        <p:spPr>
          <a:xfrm>
            <a:off x="4272612" y="3841305"/>
            <a:ext cx="344588" cy="1143"/>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67" name="Straight Arrow Connector 66">
            <a:extLst>
              <a:ext uri="{FF2B5EF4-FFF2-40B4-BE49-F238E27FC236}">
                <a16:creationId xmlns:a16="http://schemas.microsoft.com/office/drawing/2014/main" id="{CF4691C4-39D2-3417-BF8D-68355085B839}"/>
              </a:ext>
            </a:extLst>
          </p:cNvPr>
          <p:cNvCxnSpPr>
            <a:cxnSpLocks/>
          </p:cNvCxnSpPr>
          <p:nvPr/>
        </p:nvCxnSpPr>
        <p:spPr>
          <a:xfrm>
            <a:off x="8287998" y="3913936"/>
            <a:ext cx="344588" cy="1143"/>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68" name="Straight Arrow Connector 67">
            <a:extLst>
              <a:ext uri="{FF2B5EF4-FFF2-40B4-BE49-F238E27FC236}">
                <a16:creationId xmlns:a16="http://schemas.microsoft.com/office/drawing/2014/main" id="{1E347950-E83D-3220-65AE-4740ED1620AC}"/>
              </a:ext>
            </a:extLst>
          </p:cNvPr>
          <p:cNvCxnSpPr>
            <a:cxnSpLocks/>
          </p:cNvCxnSpPr>
          <p:nvPr/>
        </p:nvCxnSpPr>
        <p:spPr>
          <a:xfrm flipH="1">
            <a:off x="9195386" y="5939464"/>
            <a:ext cx="804957"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71" name="Straight Connector 70">
            <a:extLst>
              <a:ext uri="{FF2B5EF4-FFF2-40B4-BE49-F238E27FC236}">
                <a16:creationId xmlns:a16="http://schemas.microsoft.com/office/drawing/2014/main" id="{266BA956-3E62-E783-E229-CDFA147C6B43}"/>
              </a:ext>
            </a:extLst>
          </p:cNvPr>
          <p:cNvCxnSpPr/>
          <p:nvPr/>
        </p:nvCxnSpPr>
        <p:spPr>
          <a:xfrm>
            <a:off x="10000343" y="4847767"/>
            <a:ext cx="0" cy="1091697"/>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74320"/>
            <a:ext cx="10972800" cy="502920"/>
          </a:xfrm>
          <a:prstGeom prst="rect">
            <a:avLst/>
          </a:prstGeom>
          <a:noFill/>
        </p:spPr>
        <p:txBody>
          <a:bodyPr wrap="none">
            <a:spAutoFit/>
          </a:bodyPr>
          <a:lstStyle/>
          <a:p>
            <a:pPr>
              <a:defRPr sz="2500" b="1">
                <a:solidFill>
                  <a:srgbClr val="16375E"/>
                </a:solidFill>
              </a:defRPr>
            </a:pPr>
            <a:r>
              <a:t>8. Salary Structure</a:t>
            </a:r>
          </a:p>
        </p:txBody>
      </p:sp>
      <p:sp>
        <p:nvSpPr>
          <p:cNvPr id="4" name="Rounded Rectangle 3"/>
          <p:cNvSpPr/>
          <p:nvPr/>
        </p:nvSpPr>
        <p:spPr>
          <a:xfrm>
            <a:off x="2356104" y="1021334"/>
            <a:ext cx="1844040"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Salary Structure</a:t>
            </a:r>
          </a:p>
          <a:p>
            <a:pPr>
              <a:defRPr sz="950">
                <a:solidFill>
                  <a:srgbClr val="2D343C"/>
                </a:solidFill>
              </a:defRPr>
            </a:pPr>
            <a:r>
              <a:t>Open configuration</a:t>
            </a:r>
          </a:p>
        </p:txBody>
      </p:sp>
      <p:cxnSp>
        <p:nvCxnSpPr>
          <p:cNvPr id="5" name="Connector 4"/>
          <p:cNvCxnSpPr/>
          <p:nvPr/>
        </p:nvCxnSpPr>
        <p:spPr>
          <a:xfrm>
            <a:off x="4200144" y="1359662"/>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273296" y="1021334"/>
            <a:ext cx="1844040"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Create</a:t>
            </a:r>
          </a:p>
          <a:p>
            <a:pPr>
              <a:defRPr sz="950">
                <a:solidFill>
                  <a:srgbClr val="2D343C"/>
                </a:solidFill>
              </a:defRPr>
            </a:pPr>
            <a:r>
              <a:t>Configure structure</a:t>
            </a:r>
          </a:p>
        </p:txBody>
      </p:sp>
      <p:cxnSp>
        <p:nvCxnSpPr>
          <p:cNvPr id="7" name="Connector 6"/>
          <p:cNvCxnSpPr/>
          <p:nvPr/>
        </p:nvCxnSpPr>
        <p:spPr>
          <a:xfrm>
            <a:off x="6117336" y="1359662"/>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190488" y="1021334"/>
            <a:ext cx="1844040"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Salary Rules</a:t>
            </a:r>
          </a:p>
          <a:p>
            <a:pPr>
              <a:defRPr sz="950">
                <a:solidFill>
                  <a:srgbClr val="2D343C"/>
                </a:solidFill>
              </a:defRPr>
            </a:pPr>
            <a:r>
              <a:t>Add components</a:t>
            </a:r>
          </a:p>
        </p:txBody>
      </p:sp>
      <p:cxnSp>
        <p:nvCxnSpPr>
          <p:cNvPr id="9" name="Connector 8"/>
          <p:cNvCxnSpPr/>
          <p:nvPr/>
        </p:nvCxnSpPr>
        <p:spPr>
          <a:xfrm>
            <a:off x="8034528" y="1359662"/>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107680" y="1021334"/>
            <a:ext cx="1844040"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Components</a:t>
            </a:r>
          </a:p>
          <a:p>
            <a:pPr>
              <a:defRPr sz="950">
                <a:solidFill>
                  <a:srgbClr val="2D343C"/>
                </a:solidFill>
              </a:defRPr>
            </a:pPr>
            <a:r>
              <a:t>Fixed / percentage</a:t>
            </a:r>
          </a:p>
        </p:txBody>
      </p:sp>
      <p:cxnSp>
        <p:nvCxnSpPr>
          <p:cNvPr id="11" name="Connector 10"/>
          <p:cNvCxnSpPr/>
          <p:nvPr/>
        </p:nvCxnSpPr>
        <p:spPr>
          <a:xfrm>
            <a:off x="9951720" y="1359662"/>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0024872" y="1021334"/>
            <a:ext cx="1844040"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Save</a:t>
            </a:r>
          </a:p>
          <a:p>
            <a:pPr>
              <a:defRPr sz="950">
                <a:solidFill>
                  <a:srgbClr val="2D343C"/>
                </a:solidFill>
              </a:defRPr>
            </a:pPr>
            <a:r>
              <a:t>Structure ready</a:t>
            </a:r>
          </a:p>
        </p:txBody>
      </p:sp>
      <p:cxnSp>
        <p:nvCxnSpPr>
          <p:cNvPr id="13" name="Connector 12"/>
          <p:cNvCxnSpPr/>
          <p:nvPr/>
        </p:nvCxnSpPr>
        <p:spPr>
          <a:xfrm>
            <a:off x="2282952" y="1377644"/>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8912" y="1015492"/>
            <a:ext cx="1844040"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rPr lang="en-US" dirty="0"/>
              <a:t>Payroll</a:t>
            </a:r>
            <a:endParaRPr dirty="0"/>
          </a:p>
          <a:p>
            <a:pPr>
              <a:defRPr sz="950">
                <a:solidFill>
                  <a:srgbClr val="2D343C"/>
                </a:solidFill>
              </a:defRPr>
            </a:pPr>
            <a:r>
              <a:rPr lang="en-US" dirty="0"/>
              <a:t>Configuration</a:t>
            </a:r>
            <a:endParaRPr dirty="0"/>
          </a:p>
        </p:txBody>
      </p:sp>
      <p:sp>
        <p:nvSpPr>
          <p:cNvPr id="15" name="Rounded Rectangle 14"/>
          <p:cNvSpPr/>
          <p:nvPr/>
        </p:nvSpPr>
        <p:spPr>
          <a:xfrm>
            <a:off x="112705" y="5559553"/>
            <a:ext cx="1877710" cy="1221284"/>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Setup</a:t>
            </a:r>
          </a:p>
          <a:p>
            <a:pPr>
              <a:defRPr sz="950">
                <a:solidFill>
                  <a:srgbClr val="2D343C"/>
                </a:solidFill>
              </a:defRPr>
            </a:pPr>
            <a:r>
              <a:t>Structure name</a:t>
            </a:r>
          </a:p>
          <a:p>
            <a:pPr>
              <a:defRPr sz="950">
                <a:solidFill>
                  <a:srgbClr val="2D343C"/>
                </a:solidFill>
              </a:defRPr>
            </a:pPr>
            <a:r>
              <a:t>Basic / allowances</a:t>
            </a:r>
          </a:p>
          <a:p>
            <a:pPr>
              <a:defRPr sz="950">
                <a:solidFill>
                  <a:srgbClr val="2D343C"/>
                </a:solidFill>
              </a:defRPr>
            </a:pPr>
            <a:r>
              <a:t>Deductions</a:t>
            </a:r>
          </a:p>
          <a:p>
            <a:pPr>
              <a:defRPr sz="950">
                <a:solidFill>
                  <a:srgbClr val="2D343C"/>
                </a:solidFill>
              </a:defRPr>
            </a:pPr>
            <a:r>
              <a:t>Salary rules</a:t>
            </a:r>
          </a:p>
        </p:txBody>
      </p:sp>
      <p:pic>
        <p:nvPicPr>
          <p:cNvPr id="20" name="Picture 19">
            <a:extLst>
              <a:ext uri="{FF2B5EF4-FFF2-40B4-BE49-F238E27FC236}">
                <a16:creationId xmlns:a16="http://schemas.microsoft.com/office/drawing/2014/main" id="{3196BF40-A7C7-6408-58DA-2AC6C0566B39}"/>
              </a:ext>
            </a:extLst>
          </p:cNvPr>
          <p:cNvPicPr>
            <a:picLocks noChangeAspect="1"/>
          </p:cNvPicPr>
          <p:nvPr/>
        </p:nvPicPr>
        <p:blipFill>
          <a:blip r:embed="rId2"/>
          <a:stretch>
            <a:fillRect/>
          </a:stretch>
        </p:blipFill>
        <p:spPr>
          <a:xfrm>
            <a:off x="184889" y="2277220"/>
            <a:ext cx="3765319" cy="3047290"/>
          </a:xfrm>
          <a:prstGeom prst="rect">
            <a:avLst/>
          </a:prstGeom>
        </p:spPr>
      </p:pic>
      <p:pic>
        <p:nvPicPr>
          <p:cNvPr id="22" name="Picture 21">
            <a:extLst>
              <a:ext uri="{FF2B5EF4-FFF2-40B4-BE49-F238E27FC236}">
                <a16:creationId xmlns:a16="http://schemas.microsoft.com/office/drawing/2014/main" id="{CE0B6702-4FEE-81E7-9C7C-44BB14A1CF2D}"/>
              </a:ext>
            </a:extLst>
          </p:cNvPr>
          <p:cNvPicPr>
            <a:picLocks noChangeAspect="1"/>
          </p:cNvPicPr>
          <p:nvPr/>
        </p:nvPicPr>
        <p:blipFill>
          <a:blip r:embed="rId3"/>
          <a:stretch>
            <a:fillRect/>
          </a:stretch>
        </p:blipFill>
        <p:spPr>
          <a:xfrm>
            <a:off x="4395008" y="2277219"/>
            <a:ext cx="3420065" cy="3047287"/>
          </a:xfrm>
          <a:prstGeom prst="rect">
            <a:avLst/>
          </a:prstGeom>
        </p:spPr>
      </p:pic>
      <p:pic>
        <p:nvPicPr>
          <p:cNvPr id="24" name="Picture 23">
            <a:extLst>
              <a:ext uri="{FF2B5EF4-FFF2-40B4-BE49-F238E27FC236}">
                <a16:creationId xmlns:a16="http://schemas.microsoft.com/office/drawing/2014/main" id="{2B899D7D-AC85-1042-F31B-160B981AF88A}"/>
              </a:ext>
            </a:extLst>
          </p:cNvPr>
          <p:cNvPicPr>
            <a:picLocks noChangeAspect="1"/>
          </p:cNvPicPr>
          <p:nvPr/>
        </p:nvPicPr>
        <p:blipFill>
          <a:blip r:embed="rId4"/>
          <a:stretch>
            <a:fillRect/>
          </a:stretch>
        </p:blipFill>
        <p:spPr>
          <a:xfrm>
            <a:off x="8269719" y="2277219"/>
            <a:ext cx="3364002" cy="4269283"/>
          </a:xfrm>
          <a:prstGeom prst="rect">
            <a:avLst/>
          </a:prstGeom>
        </p:spPr>
      </p:pic>
      <p:cxnSp>
        <p:nvCxnSpPr>
          <p:cNvPr id="25" name="Straight Arrow Connector 24">
            <a:extLst>
              <a:ext uri="{FF2B5EF4-FFF2-40B4-BE49-F238E27FC236}">
                <a16:creationId xmlns:a16="http://schemas.microsoft.com/office/drawing/2014/main" id="{B008079B-0650-7A27-71A6-5A5A63FF21A4}"/>
              </a:ext>
            </a:extLst>
          </p:cNvPr>
          <p:cNvCxnSpPr>
            <a:cxnSpLocks/>
            <a:endCxn id="22" idx="1"/>
          </p:cNvCxnSpPr>
          <p:nvPr/>
        </p:nvCxnSpPr>
        <p:spPr>
          <a:xfrm flipV="1">
            <a:off x="3950208" y="3800863"/>
            <a:ext cx="444800" cy="1459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FCE1C439-B74B-9D5F-6AC2-36E5C86161A4}"/>
              </a:ext>
            </a:extLst>
          </p:cNvPr>
          <p:cNvCxnSpPr>
            <a:cxnSpLocks/>
          </p:cNvCxnSpPr>
          <p:nvPr/>
        </p:nvCxnSpPr>
        <p:spPr>
          <a:xfrm>
            <a:off x="7815073" y="3746823"/>
            <a:ext cx="444800"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30" name="Arrow: Up 29">
            <a:extLst>
              <a:ext uri="{FF2B5EF4-FFF2-40B4-BE49-F238E27FC236}">
                <a16:creationId xmlns:a16="http://schemas.microsoft.com/office/drawing/2014/main" id="{154100E7-DC49-7CB0-87AA-2318C35F8692}"/>
              </a:ext>
            </a:extLst>
          </p:cNvPr>
          <p:cNvSpPr/>
          <p:nvPr/>
        </p:nvSpPr>
        <p:spPr>
          <a:xfrm rot="5400000">
            <a:off x="568441" y="4113157"/>
            <a:ext cx="179712" cy="597407"/>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Arrow: Up 31">
            <a:extLst>
              <a:ext uri="{FF2B5EF4-FFF2-40B4-BE49-F238E27FC236}">
                <a16:creationId xmlns:a16="http://schemas.microsoft.com/office/drawing/2014/main" id="{4431F828-8C88-9FDA-B4F3-2BD3E5893B71}"/>
              </a:ext>
            </a:extLst>
          </p:cNvPr>
          <p:cNvSpPr/>
          <p:nvPr/>
        </p:nvSpPr>
        <p:spPr>
          <a:xfrm rot="10800000">
            <a:off x="10304738" y="1951228"/>
            <a:ext cx="227783" cy="841075"/>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Arrow: Up 33">
            <a:extLst>
              <a:ext uri="{FF2B5EF4-FFF2-40B4-BE49-F238E27FC236}">
                <a16:creationId xmlns:a16="http://schemas.microsoft.com/office/drawing/2014/main" id="{C807541F-60F5-DDA8-CD30-BA2B87594F94}"/>
              </a:ext>
            </a:extLst>
          </p:cNvPr>
          <p:cNvSpPr/>
          <p:nvPr/>
        </p:nvSpPr>
        <p:spPr>
          <a:xfrm>
            <a:off x="4322525" y="2624690"/>
            <a:ext cx="269111" cy="665295"/>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Rounded Rectangle 22">
            <a:extLst>
              <a:ext uri="{FF2B5EF4-FFF2-40B4-BE49-F238E27FC236}">
                <a16:creationId xmlns:a16="http://schemas.microsoft.com/office/drawing/2014/main" id="{0DD8E426-D078-7EE0-22B8-8B4DEEDB7C41}"/>
              </a:ext>
            </a:extLst>
          </p:cNvPr>
          <p:cNvSpPr/>
          <p:nvPr/>
        </p:nvSpPr>
        <p:spPr>
          <a:xfrm>
            <a:off x="2690026" y="5512928"/>
            <a:ext cx="4495778" cy="1221284"/>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rPr lang="en-US" dirty="0">
                <a:solidFill>
                  <a:srgbClr val="00B050"/>
                </a:solidFill>
              </a:rPr>
              <a:t>Salary Structure</a:t>
            </a:r>
          </a:p>
          <a:p>
            <a:pPr>
              <a:defRPr sz="950">
                <a:solidFill>
                  <a:srgbClr val="2D343C"/>
                </a:solidFill>
              </a:defRPr>
            </a:pPr>
            <a:r>
              <a:rPr lang="en-IN" sz="900" dirty="0">
                <a:solidFill>
                  <a:srgbClr val="2D343C"/>
                </a:solidFill>
              </a:rPr>
              <a:t>Here we can define the salary structure for employees, including different salary components such as Basic Salary, HRA, Allowances, PF, ESIC, deductions, and other components. The configured structure is then used to calculate the employee’s salary during payroll processing.</a:t>
            </a:r>
            <a:endParaRPr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1376" y="177908"/>
            <a:ext cx="10972800" cy="502920"/>
          </a:xfrm>
          <a:prstGeom prst="rect">
            <a:avLst/>
          </a:prstGeom>
          <a:noFill/>
        </p:spPr>
        <p:txBody>
          <a:bodyPr wrap="none">
            <a:spAutoFit/>
          </a:bodyPr>
          <a:lstStyle/>
          <a:p>
            <a:pPr>
              <a:defRPr sz="2500" b="1">
                <a:solidFill>
                  <a:srgbClr val="16375E"/>
                </a:solidFill>
              </a:defRPr>
            </a:pPr>
            <a:r>
              <a:rPr dirty="0"/>
              <a:t>9. Payroll</a:t>
            </a:r>
          </a:p>
        </p:txBody>
      </p:sp>
      <p:sp>
        <p:nvSpPr>
          <p:cNvPr id="4" name="Rounded Rectangle 3"/>
          <p:cNvSpPr/>
          <p:nvPr/>
        </p:nvSpPr>
        <p:spPr>
          <a:xfrm>
            <a:off x="184890" y="1010238"/>
            <a:ext cx="1204976"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Payroll</a:t>
            </a:r>
          </a:p>
          <a:p>
            <a:pPr>
              <a:defRPr sz="950">
                <a:solidFill>
                  <a:srgbClr val="2D343C"/>
                </a:solidFill>
              </a:defRPr>
            </a:pPr>
            <a:r>
              <a:t>Open</a:t>
            </a:r>
          </a:p>
        </p:txBody>
      </p:sp>
      <p:cxnSp>
        <p:nvCxnSpPr>
          <p:cNvPr id="5" name="Connector 4"/>
          <p:cNvCxnSpPr/>
          <p:nvPr/>
        </p:nvCxnSpPr>
        <p:spPr>
          <a:xfrm>
            <a:off x="1389865" y="1348566"/>
            <a:ext cx="73153"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463018" y="1010238"/>
            <a:ext cx="1204976"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rPr lang="en-US" dirty="0"/>
              <a:t>Salary Structure</a:t>
            </a:r>
            <a:endParaRPr dirty="0"/>
          </a:p>
          <a:p>
            <a:pPr>
              <a:defRPr sz="950">
                <a:solidFill>
                  <a:srgbClr val="2D343C"/>
                </a:solidFill>
              </a:defRPr>
            </a:pPr>
            <a:r>
              <a:rPr lang="en-US" dirty="0"/>
              <a:t>Set the structure</a:t>
            </a:r>
            <a:endParaRPr dirty="0"/>
          </a:p>
        </p:txBody>
      </p:sp>
      <p:cxnSp>
        <p:nvCxnSpPr>
          <p:cNvPr id="7" name="Connector 6"/>
          <p:cNvCxnSpPr/>
          <p:nvPr/>
        </p:nvCxnSpPr>
        <p:spPr>
          <a:xfrm>
            <a:off x="2667994" y="1348566"/>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41146" y="1010238"/>
            <a:ext cx="1520388"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rPr lang="en-US" dirty="0"/>
              <a:t>Contract</a:t>
            </a:r>
            <a:endParaRPr dirty="0"/>
          </a:p>
          <a:p>
            <a:pPr>
              <a:defRPr sz="950">
                <a:solidFill>
                  <a:srgbClr val="2D343C"/>
                </a:solidFill>
              </a:defRPr>
            </a:pPr>
            <a:r>
              <a:rPr lang="en-US" dirty="0"/>
              <a:t>Employe visible which are in contract only get </a:t>
            </a:r>
            <a:r>
              <a:rPr lang="en-US" dirty="0" err="1"/>
              <a:t>payslips</a:t>
            </a:r>
            <a:endParaRPr dirty="0"/>
          </a:p>
        </p:txBody>
      </p:sp>
      <p:sp>
        <p:nvSpPr>
          <p:cNvPr id="10" name="Rounded Rectangle 9"/>
          <p:cNvSpPr/>
          <p:nvPr/>
        </p:nvSpPr>
        <p:spPr>
          <a:xfrm>
            <a:off x="3883715" y="55365"/>
            <a:ext cx="2331586" cy="822329"/>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rPr lang="en-IN" dirty="0"/>
              <a:t>Payslip</a:t>
            </a:r>
          </a:p>
          <a:p>
            <a:pPr>
              <a:defRPr sz="950">
                <a:solidFill>
                  <a:srgbClr val="2D343C"/>
                </a:solidFill>
              </a:defRPr>
            </a:pPr>
            <a:r>
              <a:rPr lang="en-US" sz="800" dirty="0"/>
              <a:t> </a:t>
            </a:r>
            <a:r>
              <a:rPr lang="en-IN" sz="800" dirty="0">
                <a:solidFill>
                  <a:srgbClr val="2D343C"/>
                </a:solidFill>
              </a:rPr>
              <a:t>Here we can generate a payslip for a particular employee by selecting the employee and required payroll period. The payslip shows the employee’s salary details, earnings, deductions, and net salary.</a:t>
            </a:r>
            <a:endParaRPr sz="800" dirty="0"/>
          </a:p>
        </p:txBody>
      </p:sp>
      <p:cxnSp>
        <p:nvCxnSpPr>
          <p:cNvPr id="11" name="Connector 10"/>
          <p:cNvCxnSpPr>
            <a:cxnSpLocks/>
          </p:cNvCxnSpPr>
          <p:nvPr/>
        </p:nvCxnSpPr>
        <p:spPr>
          <a:xfrm flipH="1">
            <a:off x="6019800" y="2068774"/>
            <a:ext cx="279496"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787233" y="987140"/>
            <a:ext cx="1204976"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Calculation</a:t>
            </a:r>
          </a:p>
          <a:p>
            <a:pPr>
              <a:defRPr sz="950">
                <a:solidFill>
                  <a:srgbClr val="2D343C"/>
                </a:solidFill>
              </a:defRPr>
            </a:pPr>
            <a:r>
              <a:t>System calculates</a:t>
            </a:r>
          </a:p>
        </p:txBody>
      </p:sp>
      <p:cxnSp>
        <p:nvCxnSpPr>
          <p:cNvPr id="13" name="Connector 12"/>
          <p:cNvCxnSpPr/>
          <p:nvPr/>
        </p:nvCxnSpPr>
        <p:spPr>
          <a:xfrm>
            <a:off x="6992209" y="1325468"/>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065361" y="987140"/>
            <a:ext cx="1204976"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Review</a:t>
            </a:r>
          </a:p>
          <a:p>
            <a:pPr>
              <a:defRPr sz="950">
                <a:solidFill>
                  <a:srgbClr val="2D343C"/>
                </a:solidFill>
              </a:defRPr>
            </a:pPr>
            <a:r>
              <a:t>Check payslip</a:t>
            </a:r>
          </a:p>
        </p:txBody>
      </p:sp>
      <p:cxnSp>
        <p:nvCxnSpPr>
          <p:cNvPr id="15" name="Connector 14"/>
          <p:cNvCxnSpPr/>
          <p:nvPr/>
        </p:nvCxnSpPr>
        <p:spPr>
          <a:xfrm>
            <a:off x="8270337" y="1325468"/>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343489" y="987140"/>
            <a:ext cx="1204976"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Decision</a:t>
            </a:r>
          </a:p>
          <a:p>
            <a:pPr>
              <a:defRPr sz="950">
                <a:solidFill>
                  <a:srgbClr val="2D343C"/>
                </a:solidFill>
              </a:defRPr>
            </a:pPr>
            <a:r>
              <a:t>All good?</a:t>
            </a:r>
          </a:p>
        </p:txBody>
      </p:sp>
      <p:cxnSp>
        <p:nvCxnSpPr>
          <p:cNvPr id="17" name="Connector 16"/>
          <p:cNvCxnSpPr/>
          <p:nvPr/>
        </p:nvCxnSpPr>
        <p:spPr>
          <a:xfrm>
            <a:off x="9548465" y="1325468"/>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621617" y="987140"/>
            <a:ext cx="1204976"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Confirm</a:t>
            </a:r>
          </a:p>
          <a:p>
            <a:pPr>
              <a:defRPr sz="950">
                <a:solidFill>
                  <a:srgbClr val="2D343C"/>
                </a:solidFill>
              </a:defRPr>
            </a:pPr>
            <a:r>
              <a:t>Finalise</a:t>
            </a:r>
          </a:p>
        </p:txBody>
      </p:sp>
      <p:cxnSp>
        <p:nvCxnSpPr>
          <p:cNvPr id="19" name="Connector 18"/>
          <p:cNvCxnSpPr/>
          <p:nvPr/>
        </p:nvCxnSpPr>
        <p:spPr>
          <a:xfrm>
            <a:off x="10826593" y="1325468"/>
            <a:ext cx="73152"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899745" y="987140"/>
            <a:ext cx="1204976" cy="68580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Processed</a:t>
            </a:r>
          </a:p>
          <a:p>
            <a:pPr>
              <a:defRPr sz="950">
                <a:solidFill>
                  <a:srgbClr val="2D343C"/>
                </a:solidFill>
              </a:defRPr>
            </a:pPr>
            <a:r>
              <a:t>Payroll complete</a:t>
            </a:r>
          </a:p>
        </p:txBody>
      </p:sp>
      <p:sp>
        <p:nvSpPr>
          <p:cNvPr id="21" name="Rounded Rectangle 20"/>
          <p:cNvSpPr/>
          <p:nvPr/>
        </p:nvSpPr>
        <p:spPr>
          <a:xfrm>
            <a:off x="9901271" y="1979554"/>
            <a:ext cx="1729739" cy="899883"/>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Inputs</a:t>
            </a:r>
          </a:p>
          <a:p>
            <a:pPr>
              <a:defRPr sz="950">
                <a:solidFill>
                  <a:srgbClr val="2D343C"/>
                </a:solidFill>
              </a:defRPr>
            </a:pPr>
            <a:r>
              <a:t>Contract</a:t>
            </a:r>
          </a:p>
          <a:p>
            <a:pPr>
              <a:defRPr sz="950">
                <a:solidFill>
                  <a:srgbClr val="2D343C"/>
                </a:solidFill>
              </a:defRPr>
            </a:pPr>
            <a:r>
              <a:t>Salary structure</a:t>
            </a:r>
          </a:p>
          <a:p>
            <a:pPr>
              <a:defRPr sz="950">
                <a:solidFill>
                  <a:srgbClr val="2D343C"/>
                </a:solidFill>
              </a:defRPr>
            </a:pPr>
            <a:r>
              <a:t>Salary rules</a:t>
            </a:r>
          </a:p>
          <a:p>
            <a:pPr>
              <a:defRPr sz="950">
                <a:solidFill>
                  <a:srgbClr val="2D343C"/>
                </a:solidFill>
              </a:defRPr>
            </a:pPr>
            <a:r>
              <a:t>Attendance</a:t>
            </a:r>
          </a:p>
          <a:p>
            <a:pPr>
              <a:defRPr sz="950">
                <a:solidFill>
                  <a:srgbClr val="2D343C"/>
                </a:solidFill>
              </a:defRPr>
            </a:pPr>
            <a:r>
              <a:t>Leave / work entries</a:t>
            </a:r>
          </a:p>
        </p:txBody>
      </p:sp>
      <p:sp>
        <p:nvSpPr>
          <p:cNvPr id="22" name="Rounded Rectangle 21"/>
          <p:cNvSpPr/>
          <p:nvPr/>
        </p:nvSpPr>
        <p:spPr>
          <a:xfrm>
            <a:off x="7667849" y="1895662"/>
            <a:ext cx="1729740" cy="1015409"/>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rPr dirty="0"/>
              <a:t>Review</a:t>
            </a:r>
          </a:p>
          <a:p>
            <a:pPr>
              <a:defRPr sz="950">
                <a:solidFill>
                  <a:srgbClr val="2D343C"/>
                </a:solidFill>
              </a:defRPr>
            </a:pPr>
            <a:r>
              <a:rPr dirty="0"/>
              <a:t>Working days</a:t>
            </a:r>
          </a:p>
          <a:p>
            <a:pPr>
              <a:defRPr sz="950">
                <a:solidFill>
                  <a:srgbClr val="2D343C"/>
                </a:solidFill>
              </a:defRPr>
            </a:pPr>
            <a:r>
              <a:rPr dirty="0"/>
              <a:t>Components</a:t>
            </a:r>
          </a:p>
          <a:p>
            <a:pPr>
              <a:defRPr sz="950">
                <a:solidFill>
                  <a:srgbClr val="2D343C"/>
                </a:solidFill>
              </a:defRPr>
            </a:pPr>
            <a:r>
              <a:rPr dirty="0"/>
              <a:t>Deductions</a:t>
            </a:r>
          </a:p>
          <a:p>
            <a:pPr>
              <a:defRPr sz="950">
                <a:solidFill>
                  <a:srgbClr val="2D343C"/>
                </a:solidFill>
              </a:defRPr>
            </a:pPr>
            <a:r>
              <a:rPr dirty="0"/>
              <a:t>Correct before confirmation</a:t>
            </a:r>
          </a:p>
        </p:txBody>
      </p:sp>
      <p:sp>
        <p:nvSpPr>
          <p:cNvPr id="23" name="Rounded Rectangle 22"/>
          <p:cNvSpPr/>
          <p:nvPr/>
        </p:nvSpPr>
        <p:spPr>
          <a:xfrm>
            <a:off x="268179" y="5142216"/>
            <a:ext cx="2892683" cy="1628527"/>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rPr lang="en-US" dirty="0">
                <a:solidFill>
                  <a:srgbClr val="00B050"/>
                </a:solidFill>
              </a:rPr>
              <a:t>Salary Structure</a:t>
            </a:r>
          </a:p>
          <a:p>
            <a:pPr>
              <a:defRPr sz="950">
                <a:solidFill>
                  <a:srgbClr val="2D343C"/>
                </a:solidFill>
              </a:defRPr>
            </a:pPr>
            <a:r>
              <a:rPr lang="en-IN" sz="900" dirty="0">
                <a:solidFill>
                  <a:srgbClr val="2D343C"/>
                </a:solidFill>
              </a:rPr>
              <a:t>Here we can define the salary structure for employees, including different salary components such as Basic Salary, HRA, Allowances, PF, ESIC, deductions, and other components. The configured structure is then used to calculate the employee’s salary during payroll processing.</a:t>
            </a:r>
            <a:endParaRPr sz="900" dirty="0"/>
          </a:p>
        </p:txBody>
      </p:sp>
      <p:pic>
        <p:nvPicPr>
          <p:cNvPr id="45" name="Picture 44">
            <a:extLst>
              <a:ext uri="{FF2B5EF4-FFF2-40B4-BE49-F238E27FC236}">
                <a16:creationId xmlns:a16="http://schemas.microsoft.com/office/drawing/2014/main" id="{C0720601-A596-51D5-8511-0901DE57B749}"/>
              </a:ext>
            </a:extLst>
          </p:cNvPr>
          <p:cNvPicPr>
            <a:picLocks noChangeAspect="1"/>
          </p:cNvPicPr>
          <p:nvPr/>
        </p:nvPicPr>
        <p:blipFill>
          <a:blip r:embed="rId2"/>
          <a:stretch>
            <a:fillRect/>
          </a:stretch>
        </p:blipFill>
        <p:spPr>
          <a:xfrm>
            <a:off x="7492197" y="3098399"/>
            <a:ext cx="4138813" cy="3113863"/>
          </a:xfrm>
          <a:prstGeom prst="rect">
            <a:avLst/>
          </a:prstGeom>
        </p:spPr>
      </p:pic>
      <p:pic>
        <p:nvPicPr>
          <p:cNvPr id="47" name="Picture 46">
            <a:extLst>
              <a:ext uri="{FF2B5EF4-FFF2-40B4-BE49-F238E27FC236}">
                <a16:creationId xmlns:a16="http://schemas.microsoft.com/office/drawing/2014/main" id="{CCB54643-A1C5-28E4-88F2-76395CB47D05}"/>
              </a:ext>
            </a:extLst>
          </p:cNvPr>
          <p:cNvPicPr>
            <a:picLocks noChangeAspect="1"/>
          </p:cNvPicPr>
          <p:nvPr/>
        </p:nvPicPr>
        <p:blipFill>
          <a:blip r:embed="rId3"/>
          <a:stretch>
            <a:fillRect/>
          </a:stretch>
        </p:blipFill>
        <p:spPr>
          <a:xfrm>
            <a:off x="3469318" y="2744296"/>
            <a:ext cx="3373267" cy="1506705"/>
          </a:xfrm>
          <a:prstGeom prst="rect">
            <a:avLst/>
          </a:prstGeom>
        </p:spPr>
      </p:pic>
      <p:cxnSp>
        <p:nvCxnSpPr>
          <p:cNvPr id="48" name="Straight Arrow Connector 47">
            <a:extLst>
              <a:ext uri="{FF2B5EF4-FFF2-40B4-BE49-F238E27FC236}">
                <a16:creationId xmlns:a16="http://schemas.microsoft.com/office/drawing/2014/main" id="{72027336-DBD6-D779-B476-F01CC1B6CE24}"/>
              </a:ext>
            </a:extLst>
          </p:cNvPr>
          <p:cNvCxnSpPr>
            <a:cxnSpLocks/>
          </p:cNvCxnSpPr>
          <p:nvPr/>
        </p:nvCxnSpPr>
        <p:spPr>
          <a:xfrm>
            <a:off x="3017076" y="3889744"/>
            <a:ext cx="452242"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49" name="Straight Arrow Connector 48">
            <a:extLst>
              <a:ext uri="{FF2B5EF4-FFF2-40B4-BE49-F238E27FC236}">
                <a16:creationId xmlns:a16="http://schemas.microsoft.com/office/drawing/2014/main" id="{6167CE0D-8DF3-5243-DF4C-CAD268B85CAB}"/>
              </a:ext>
            </a:extLst>
          </p:cNvPr>
          <p:cNvCxnSpPr>
            <a:cxnSpLocks/>
          </p:cNvCxnSpPr>
          <p:nvPr/>
        </p:nvCxnSpPr>
        <p:spPr>
          <a:xfrm>
            <a:off x="6865719" y="3431286"/>
            <a:ext cx="626478"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51" name="Rounded Rectangle 9">
            <a:extLst>
              <a:ext uri="{FF2B5EF4-FFF2-40B4-BE49-F238E27FC236}">
                <a16:creationId xmlns:a16="http://schemas.microsoft.com/office/drawing/2014/main" id="{73FC7FA1-4674-DDE7-EE10-BFA97A9FAE5F}"/>
              </a:ext>
            </a:extLst>
          </p:cNvPr>
          <p:cNvSpPr/>
          <p:nvPr/>
        </p:nvSpPr>
        <p:spPr>
          <a:xfrm>
            <a:off x="3883713" y="1782386"/>
            <a:ext cx="2136087" cy="822328"/>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rPr lang="en-IN" dirty="0"/>
              <a:t>Payslip </a:t>
            </a:r>
            <a:r>
              <a:rPr lang="en-IN" sz="1300" b="1" dirty="0">
                <a:solidFill>
                  <a:srgbClr val="694B9B"/>
                </a:solidFill>
              </a:rPr>
              <a:t>Batch</a:t>
            </a:r>
            <a:endParaRPr lang="en-IN" dirty="0"/>
          </a:p>
          <a:p>
            <a:pPr>
              <a:defRPr sz="950">
                <a:solidFill>
                  <a:srgbClr val="2D343C"/>
                </a:solidFill>
              </a:defRPr>
            </a:pPr>
            <a:r>
              <a:rPr lang="en-IN" sz="800" dirty="0">
                <a:solidFill>
                  <a:srgbClr val="2D343C"/>
                </a:solidFill>
              </a:rPr>
              <a:t>Here we can generate payslips for multiple employees at once. Instead of creating each payslip individually, HR can select a group of employees or the required batch and generate all their payslips together.</a:t>
            </a:r>
            <a:endParaRPr sz="800" dirty="0"/>
          </a:p>
        </p:txBody>
      </p:sp>
      <p:cxnSp>
        <p:nvCxnSpPr>
          <p:cNvPr id="54" name="Straight Connector 53">
            <a:extLst>
              <a:ext uri="{FF2B5EF4-FFF2-40B4-BE49-F238E27FC236}">
                <a16:creationId xmlns:a16="http://schemas.microsoft.com/office/drawing/2014/main" id="{6D047DE4-3A28-1291-0D06-B7CD2FF13933}"/>
              </a:ext>
            </a:extLst>
          </p:cNvPr>
          <p:cNvCxnSpPr/>
          <p:nvPr/>
        </p:nvCxnSpPr>
        <p:spPr>
          <a:xfrm>
            <a:off x="3469318" y="1722551"/>
            <a:ext cx="0" cy="461167"/>
          </a:xfrm>
          <a:prstGeom prst="line">
            <a:avLst/>
          </a:prstGeom>
          <a:ln>
            <a:solidFill>
              <a:schemeClr val="accent4"/>
            </a:solidFill>
          </a:ln>
        </p:spPr>
        <p:style>
          <a:lnRef idx="2">
            <a:schemeClr val="dk1"/>
          </a:lnRef>
          <a:fillRef idx="0">
            <a:schemeClr val="dk1"/>
          </a:fillRef>
          <a:effectRef idx="1">
            <a:schemeClr val="dk1"/>
          </a:effectRef>
          <a:fontRef idx="minor">
            <a:schemeClr val="tx1"/>
          </a:fontRef>
        </p:style>
      </p:cxnSp>
      <p:cxnSp>
        <p:nvCxnSpPr>
          <p:cNvPr id="60" name="Straight Arrow Connector 59">
            <a:extLst>
              <a:ext uri="{FF2B5EF4-FFF2-40B4-BE49-F238E27FC236}">
                <a16:creationId xmlns:a16="http://schemas.microsoft.com/office/drawing/2014/main" id="{29022FAF-4B6A-A520-F3A4-A77ADDD03037}"/>
              </a:ext>
            </a:extLst>
          </p:cNvPr>
          <p:cNvCxnSpPr>
            <a:cxnSpLocks/>
          </p:cNvCxnSpPr>
          <p:nvPr/>
        </p:nvCxnSpPr>
        <p:spPr>
          <a:xfrm>
            <a:off x="3469318" y="2183718"/>
            <a:ext cx="414397" cy="0"/>
          </a:xfrm>
          <a:prstGeom prst="straightConnector1">
            <a:avLst/>
          </a:prstGeom>
          <a:ln>
            <a:solidFill>
              <a:schemeClr val="accent4"/>
            </a:solidFill>
            <a:tailEnd type="triangle"/>
          </a:ln>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6F06795C-9E8F-3C27-345E-0FF3791165BA}"/>
              </a:ext>
            </a:extLst>
          </p:cNvPr>
          <p:cNvCxnSpPr>
            <a:cxnSpLocks/>
          </p:cNvCxnSpPr>
          <p:nvPr/>
        </p:nvCxnSpPr>
        <p:spPr>
          <a:xfrm flipV="1">
            <a:off x="3501340" y="536762"/>
            <a:ext cx="0" cy="459518"/>
          </a:xfrm>
          <a:prstGeom prst="line">
            <a:avLst/>
          </a:prstGeom>
          <a:ln>
            <a:solidFill>
              <a:schemeClr val="accent4"/>
            </a:solidFill>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2ECBEC91-6469-D025-78F5-FD310EA0263C}"/>
              </a:ext>
            </a:extLst>
          </p:cNvPr>
          <p:cNvCxnSpPr>
            <a:cxnSpLocks/>
          </p:cNvCxnSpPr>
          <p:nvPr/>
        </p:nvCxnSpPr>
        <p:spPr>
          <a:xfrm>
            <a:off x="3501340" y="536762"/>
            <a:ext cx="382374" cy="0"/>
          </a:xfrm>
          <a:prstGeom prst="straightConnector1">
            <a:avLst/>
          </a:prstGeom>
          <a:ln>
            <a:solidFill>
              <a:schemeClr val="accent4"/>
            </a:solidFill>
            <a:tailEnd type="triangle"/>
          </a:ln>
        </p:spPr>
        <p:style>
          <a:lnRef idx="2">
            <a:schemeClr val="dk1"/>
          </a:lnRef>
          <a:fillRef idx="0">
            <a:schemeClr val="dk1"/>
          </a:fillRef>
          <a:effectRef idx="1">
            <a:schemeClr val="dk1"/>
          </a:effectRef>
          <a:fontRef idx="minor">
            <a:schemeClr val="tx1"/>
          </a:fontRef>
        </p:style>
      </p:cxnSp>
      <p:cxnSp>
        <p:nvCxnSpPr>
          <p:cNvPr id="83" name="Straight Arrow Connector 82">
            <a:extLst>
              <a:ext uri="{FF2B5EF4-FFF2-40B4-BE49-F238E27FC236}">
                <a16:creationId xmlns:a16="http://schemas.microsoft.com/office/drawing/2014/main" id="{1172014D-749C-6AE5-FBB2-701D79226AD1}"/>
              </a:ext>
            </a:extLst>
          </p:cNvPr>
          <p:cNvCxnSpPr/>
          <p:nvPr/>
        </p:nvCxnSpPr>
        <p:spPr>
          <a:xfrm flipV="1">
            <a:off x="6299296" y="1722551"/>
            <a:ext cx="0" cy="346223"/>
          </a:xfrm>
          <a:prstGeom prst="straightConnector1">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00911C39-0939-9FD3-AEAA-03792CD9FB35}"/>
              </a:ext>
            </a:extLst>
          </p:cNvPr>
          <p:cNvCxnSpPr>
            <a:cxnSpLocks/>
          </p:cNvCxnSpPr>
          <p:nvPr/>
        </p:nvCxnSpPr>
        <p:spPr>
          <a:xfrm>
            <a:off x="6431491" y="520792"/>
            <a:ext cx="3320" cy="475488"/>
          </a:xfrm>
          <a:prstGeom prst="straightConnector1">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86" name="Connector 10">
            <a:extLst>
              <a:ext uri="{FF2B5EF4-FFF2-40B4-BE49-F238E27FC236}">
                <a16:creationId xmlns:a16="http://schemas.microsoft.com/office/drawing/2014/main" id="{60F7D5EE-BAE5-8362-D23C-535CB6C44953}"/>
              </a:ext>
            </a:extLst>
          </p:cNvPr>
          <p:cNvCxnSpPr>
            <a:cxnSpLocks/>
          </p:cNvCxnSpPr>
          <p:nvPr/>
        </p:nvCxnSpPr>
        <p:spPr>
          <a:xfrm flipH="1">
            <a:off x="6215301" y="530100"/>
            <a:ext cx="203295" cy="0"/>
          </a:xfrm>
          <a:prstGeom prst="line">
            <a:avLst/>
          </a:prstGeom>
          <a:ln>
            <a:solidFill>
              <a:srgbClr val="694B9B"/>
            </a:solidFill>
          </a:ln>
        </p:spPr>
        <p:style>
          <a:lnRef idx="2">
            <a:schemeClr val="accent1"/>
          </a:lnRef>
          <a:fillRef idx="0">
            <a:schemeClr val="accent1"/>
          </a:fillRef>
          <a:effectRef idx="1">
            <a:schemeClr val="accent1"/>
          </a:effectRef>
          <a:fontRef idx="minor">
            <a:schemeClr val="tx1"/>
          </a:fontRef>
        </p:style>
      </p:cxnSp>
      <p:pic>
        <p:nvPicPr>
          <p:cNvPr id="95" name="Picture 94">
            <a:extLst>
              <a:ext uri="{FF2B5EF4-FFF2-40B4-BE49-F238E27FC236}">
                <a16:creationId xmlns:a16="http://schemas.microsoft.com/office/drawing/2014/main" id="{5F500F06-FAB2-6E61-F1CC-976E17B220C5}"/>
              </a:ext>
            </a:extLst>
          </p:cNvPr>
          <p:cNvPicPr>
            <a:picLocks noChangeAspect="1"/>
          </p:cNvPicPr>
          <p:nvPr/>
        </p:nvPicPr>
        <p:blipFill>
          <a:blip r:embed="rId4"/>
          <a:stretch>
            <a:fillRect/>
          </a:stretch>
        </p:blipFill>
        <p:spPr>
          <a:xfrm>
            <a:off x="112799" y="3437541"/>
            <a:ext cx="2892683" cy="1628527"/>
          </a:xfrm>
          <a:prstGeom prst="rect">
            <a:avLst/>
          </a:prstGeom>
        </p:spPr>
      </p:pic>
      <p:pic>
        <p:nvPicPr>
          <p:cNvPr id="97" name="Picture 96">
            <a:extLst>
              <a:ext uri="{FF2B5EF4-FFF2-40B4-BE49-F238E27FC236}">
                <a16:creationId xmlns:a16="http://schemas.microsoft.com/office/drawing/2014/main" id="{3F69B92E-AD15-E98B-B22F-A8BFCEC7E8F8}"/>
              </a:ext>
            </a:extLst>
          </p:cNvPr>
          <p:cNvPicPr>
            <a:picLocks noChangeAspect="1"/>
          </p:cNvPicPr>
          <p:nvPr/>
        </p:nvPicPr>
        <p:blipFill>
          <a:blip r:embed="rId5"/>
          <a:stretch>
            <a:fillRect/>
          </a:stretch>
        </p:blipFill>
        <p:spPr>
          <a:xfrm>
            <a:off x="3512934" y="4567066"/>
            <a:ext cx="3381103" cy="1528643"/>
          </a:xfrm>
          <a:prstGeom prst="rect">
            <a:avLst/>
          </a:prstGeom>
        </p:spPr>
      </p:pic>
      <p:cxnSp>
        <p:nvCxnSpPr>
          <p:cNvPr id="99" name="Straight Arrow Connector 98">
            <a:extLst>
              <a:ext uri="{FF2B5EF4-FFF2-40B4-BE49-F238E27FC236}">
                <a16:creationId xmlns:a16="http://schemas.microsoft.com/office/drawing/2014/main" id="{13F689FE-6C87-E0BE-98BC-F67D5A7817C2}"/>
              </a:ext>
            </a:extLst>
          </p:cNvPr>
          <p:cNvCxnSpPr>
            <a:cxnSpLocks/>
          </p:cNvCxnSpPr>
          <p:nvPr/>
        </p:nvCxnSpPr>
        <p:spPr>
          <a:xfrm>
            <a:off x="3049098" y="4815141"/>
            <a:ext cx="452242"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cxnSp>
        <p:nvCxnSpPr>
          <p:cNvPr id="101" name="Straight Arrow Connector 100">
            <a:extLst>
              <a:ext uri="{FF2B5EF4-FFF2-40B4-BE49-F238E27FC236}">
                <a16:creationId xmlns:a16="http://schemas.microsoft.com/office/drawing/2014/main" id="{FB9B28EC-80FE-9AA3-2131-1CC172752DBA}"/>
              </a:ext>
            </a:extLst>
          </p:cNvPr>
          <p:cNvCxnSpPr>
            <a:cxnSpLocks/>
          </p:cNvCxnSpPr>
          <p:nvPr/>
        </p:nvCxnSpPr>
        <p:spPr>
          <a:xfrm>
            <a:off x="6894037" y="5142216"/>
            <a:ext cx="626478" cy="0"/>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103" name="TextBox 102">
            <a:extLst>
              <a:ext uri="{FF2B5EF4-FFF2-40B4-BE49-F238E27FC236}">
                <a16:creationId xmlns:a16="http://schemas.microsoft.com/office/drawing/2014/main" id="{4AE0A116-F2C2-DEDB-0A63-89C1AF93F1C2}"/>
              </a:ext>
            </a:extLst>
          </p:cNvPr>
          <p:cNvSpPr txBox="1"/>
          <p:nvPr/>
        </p:nvSpPr>
        <p:spPr>
          <a:xfrm>
            <a:off x="2065506" y="3976679"/>
            <a:ext cx="6094428" cy="292388"/>
          </a:xfrm>
          <a:prstGeom prst="rect">
            <a:avLst/>
          </a:prstGeom>
          <a:noFill/>
        </p:spPr>
        <p:txBody>
          <a:bodyPr wrap="square">
            <a:spAutoFit/>
          </a:bodyPr>
          <a:lstStyle/>
          <a:p>
            <a:pPr algn="ctr">
              <a:defRPr sz="1300" b="1">
                <a:solidFill>
                  <a:srgbClr val="694B9B"/>
                </a:solidFill>
              </a:defRPr>
            </a:pPr>
            <a:r>
              <a:rPr lang="en-IN" sz="1300" dirty="0">
                <a:solidFill>
                  <a:srgbClr val="FF0000"/>
                </a:solidFill>
              </a:rPr>
              <a:t>To Payslip</a:t>
            </a:r>
          </a:p>
        </p:txBody>
      </p:sp>
      <p:sp>
        <p:nvSpPr>
          <p:cNvPr id="105" name="TextBox 104">
            <a:extLst>
              <a:ext uri="{FF2B5EF4-FFF2-40B4-BE49-F238E27FC236}">
                <a16:creationId xmlns:a16="http://schemas.microsoft.com/office/drawing/2014/main" id="{F920A9C5-9A01-D68F-F448-F3B93E103F3E}"/>
              </a:ext>
            </a:extLst>
          </p:cNvPr>
          <p:cNvSpPr txBox="1"/>
          <p:nvPr/>
        </p:nvSpPr>
        <p:spPr>
          <a:xfrm>
            <a:off x="2065506" y="5749609"/>
            <a:ext cx="6094428" cy="292388"/>
          </a:xfrm>
          <a:prstGeom prst="rect">
            <a:avLst/>
          </a:prstGeom>
          <a:noFill/>
        </p:spPr>
        <p:txBody>
          <a:bodyPr wrap="square">
            <a:spAutoFit/>
          </a:bodyPr>
          <a:lstStyle/>
          <a:p>
            <a:pPr algn="ctr">
              <a:defRPr sz="1300" b="1">
                <a:solidFill>
                  <a:srgbClr val="694B9B"/>
                </a:solidFill>
              </a:defRPr>
            </a:pPr>
            <a:r>
              <a:rPr lang="en-IN" sz="1300" dirty="0">
                <a:solidFill>
                  <a:srgbClr val="FF0000"/>
                </a:solidFill>
              </a:rPr>
              <a:t>Payslip </a:t>
            </a:r>
            <a:r>
              <a:rPr lang="en-IN" sz="1300" b="1" dirty="0">
                <a:solidFill>
                  <a:srgbClr val="FF0000"/>
                </a:solidFill>
              </a:rPr>
              <a:t>Batch</a:t>
            </a:r>
            <a:endParaRPr lang="en-IN" sz="1300" dirty="0">
              <a:solidFill>
                <a:srgbClr val="FF0000"/>
              </a:solidFill>
            </a:endParaRPr>
          </a:p>
        </p:txBody>
      </p:sp>
      <p:sp>
        <p:nvSpPr>
          <p:cNvPr id="106" name="Arrow: Up 105">
            <a:extLst>
              <a:ext uri="{FF2B5EF4-FFF2-40B4-BE49-F238E27FC236}">
                <a16:creationId xmlns:a16="http://schemas.microsoft.com/office/drawing/2014/main" id="{40B84CB2-811D-8121-174E-ED44AF3CCBF1}"/>
              </a:ext>
            </a:extLst>
          </p:cNvPr>
          <p:cNvSpPr/>
          <p:nvPr/>
        </p:nvSpPr>
        <p:spPr>
          <a:xfrm rot="16200000">
            <a:off x="855662" y="3392527"/>
            <a:ext cx="69350" cy="279591"/>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8" name="Arrow: Up 107">
            <a:extLst>
              <a:ext uri="{FF2B5EF4-FFF2-40B4-BE49-F238E27FC236}">
                <a16:creationId xmlns:a16="http://schemas.microsoft.com/office/drawing/2014/main" id="{26377A8A-5863-4604-A239-43D2662332FC}"/>
              </a:ext>
            </a:extLst>
          </p:cNvPr>
          <p:cNvSpPr/>
          <p:nvPr/>
        </p:nvSpPr>
        <p:spPr>
          <a:xfrm rot="5400000">
            <a:off x="325127" y="3510252"/>
            <a:ext cx="69350" cy="279591"/>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2920" y="274320"/>
            <a:ext cx="10972800" cy="502920"/>
          </a:xfrm>
          <a:prstGeom prst="rect">
            <a:avLst/>
          </a:prstGeom>
          <a:noFill/>
        </p:spPr>
        <p:txBody>
          <a:bodyPr wrap="none">
            <a:spAutoFit/>
          </a:bodyPr>
          <a:lstStyle/>
          <a:p>
            <a:pPr>
              <a:defRPr sz="2500" b="1">
                <a:solidFill>
                  <a:srgbClr val="16375E"/>
                </a:solidFill>
              </a:defRPr>
            </a:pPr>
            <a:r>
              <a:t>10. Resignation / Exit</a:t>
            </a:r>
          </a:p>
        </p:txBody>
      </p:sp>
      <p:sp>
        <p:nvSpPr>
          <p:cNvPr id="6" name="Rounded Rectangle 5"/>
          <p:cNvSpPr/>
          <p:nvPr/>
        </p:nvSpPr>
        <p:spPr>
          <a:xfrm>
            <a:off x="793283" y="973836"/>
            <a:ext cx="1204976" cy="68580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rPr dirty="0"/>
              <a:t>Resignation</a:t>
            </a:r>
          </a:p>
          <a:p>
            <a:pPr>
              <a:defRPr sz="950">
                <a:solidFill>
                  <a:srgbClr val="2D343C"/>
                </a:solidFill>
              </a:defRPr>
            </a:pPr>
            <a:r>
              <a:rPr dirty="0"/>
              <a:t>Create request</a:t>
            </a:r>
          </a:p>
        </p:txBody>
      </p:sp>
      <p:cxnSp>
        <p:nvCxnSpPr>
          <p:cNvPr id="7" name="Connector 6"/>
          <p:cNvCxnSpPr>
            <a:cxnSpLocks/>
          </p:cNvCxnSpPr>
          <p:nvPr/>
        </p:nvCxnSpPr>
        <p:spPr>
          <a:xfrm>
            <a:off x="1998259" y="1312164"/>
            <a:ext cx="73152" cy="0"/>
          </a:xfrm>
          <a:prstGeom prst="line">
            <a:avLst/>
          </a:prstGeom>
          <a:ln>
            <a:solidFill>
              <a:srgbClr val="C33737"/>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071411" y="973836"/>
            <a:ext cx="1204976" cy="68580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rPr dirty="0"/>
              <a:t>Details</a:t>
            </a:r>
          </a:p>
          <a:p>
            <a:pPr>
              <a:defRPr sz="950">
                <a:solidFill>
                  <a:srgbClr val="2D343C"/>
                </a:solidFill>
              </a:defRPr>
            </a:pPr>
            <a:r>
              <a:rPr dirty="0"/>
              <a:t>Reason / dates</a:t>
            </a:r>
          </a:p>
        </p:txBody>
      </p:sp>
      <p:cxnSp>
        <p:nvCxnSpPr>
          <p:cNvPr id="9" name="Connector 8"/>
          <p:cNvCxnSpPr>
            <a:cxnSpLocks/>
          </p:cNvCxnSpPr>
          <p:nvPr/>
        </p:nvCxnSpPr>
        <p:spPr>
          <a:xfrm>
            <a:off x="3276387" y="1312164"/>
            <a:ext cx="73152" cy="0"/>
          </a:xfrm>
          <a:prstGeom prst="line">
            <a:avLst/>
          </a:prstGeom>
          <a:ln>
            <a:solidFill>
              <a:srgbClr val="C33737"/>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49539" y="973836"/>
            <a:ext cx="1204976" cy="68580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t>Notice</a:t>
            </a:r>
          </a:p>
          <a:p>
            <a:pPr>
              <a:defRPr sz="950">
                <a:solidFill>
                  <a:srgbClr val="2D343C"/>
                </a:solidFill>
              </a:defRPr>
            </a:pPr>
            <a:r>
              <a:t>Notice period</a:t>
            </a:r>
          </a:p>
        </p:txBody>
      </p:sp>
      <p:cxnSp>
        <p:nvCxnSpPr>
          <p:cNvPr id="11" name="Connector 10"/>
          <p:cNvCxnSpPr>
            <a:cxnSpLocks/>
          </p:cNvCxnSpPr>
          <p:nvPr/>
        </p:nvCxnSpPr>
        <p:spPr>
          <a:xfrm>
            <a:off x="4554515" y="1312164"/>
            <a:ext cx="73152" cy="0"/>
          </a:xfrm>
          <a:prstGeom prst="line">
            <a:avLst/>
          </a:prstGeom>
          <a:ln>
            <a:solidFill>
              <a:srgbClr val="C33737"/>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627667" y="973836"/>
            <a:ext cx="1204976" cy="68580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t>Submit</a:t>
            </a:r>
          </a:p>
          <a:p>
            <a:pPr>
              <a:defRPr sz="950">
                <a:solidFill>
                  <a:srgbClr val="2D343C"/>
                </a:solidFill>
              </a:defRPr>
            </a:pPr>
            <a:r>
              <a:t>Send</a:t>
            </a:r>
          </a:p>
        </p:txBody>
      </p:sp>
      <p:cxnSp>
        <p:nvCxnSpPr>
          <p:cNvPr id="13" name="Connector 12"/>
          <p:cNvCxnSpPr>
            <a:cxnSpLocks/>
          </p:cNvCxnSpPr>
          <p:nvPr/>
        </p:nvCxnSpPr>
        <p:spPr>
          <a:xfrm>
            <a:off x="5832643" y="1312164"/>
            <a:ext cx="73152" cy="0"/>
          </a:xfrm>
          <a:prstGeom prst="line">
            <a:avLst/>
          </a:prstGeom>
          <a:ln>
            <a:solidFill>
              <a:srgbClr val="C33737"/>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905795" y="973836"/>
            <a:ext cx="1204976" cy="68580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t>Approval</a:t>
            </a:r>
          </a:p>
          <a:p>
            <a:pPr>
              <a:defRPr sz="950">
                <a:solidFill>
                  <a:srgbClr val="2D343C"/>
                </a:solidFill>
              </a:defRPr>
            </a:pPr>
            <a:r>
              <a:t>HR / Manager</a:t>
            </a:r>
          </a:p>
        </p:txBody>
      </p:sp>
      <p:cxnSp>
        <p:nvCxnSpPr>
          <p:cNvPr id="15" name="Connector 14"/>
          <p:cNvCxnSpPr>
            <a:cxnSpLocks/>
          </p:cNvCxnSpPr>
          <p:nvPr/>
        </p:nvCxnSpPr>
        <p:spPr>
          <a:xfrm>
            <a:off x="7110771" y="1312164"/>
            <a:ext cx="73152" cy="0"/>
          </a:xfrm>
          <a:prstGeom prst="line">
            <a:avLst/>
          </a:prstGeom>
          <a:ln>
            <a:solidFill>
              <a:srgbClr val="C3373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183923" y="973836"/>
            <a:ext cx="1204976" cy="68580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rPr dirty="0"/>
              <a:t>Last Working Date</a:t>
            </a:r>
          </a:p>
          <a:p>
            <a:pPr>
              <a:defRPr sz="950">
                <a:solidFill>
                  <a:srgbClr val="2D343C"/>
                </a:solidFill>
              </a:defRPr>
            </a:pPr>
            <a:r>
              <a:rPr dirty="0"/>
              <a:t>Confirm</a:t>
            </a:r>
          </a:p>
        </p:txBody>
      </p:sp>
      <p:cxnSp>
        <p:nvCxnSpPr>
          <p:cNvPr id="17" name="Connector 16"/>
          <p:cNvCxnSpPr>
            <a:cxnSpLocks/>
          </p:cNvCxnSpPr>
          <p:nvPr/>
        </p:nvCxnSpPr>
        <p:spPr>
          <a:xfrm>
            <a:off x="8388899" y="1312164"/>
            <a:ext cx="73152" cy="0"/>
          </a:xfrm>
          <a:prstGeom prst="line">
            <a:avLst/>
          </a:prstGeom>
          <a:ln>
            <a:solidFill>
              <a:srgbClr val="C33737"/>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462051" y="973836"/>
            <a:ext cx="1204976" cy="68580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t>Clearance</a:t>
            </a:r>
          </a:p>
          <a:p>
            <a:pPr>
              <a:defRPr sz="950">
                <a:solidFill>
                  <a:srgbClr val="2D343C"/>
                </a:solidFill>
              </a:defRPr>
            </a:pPr>
            <a:r>
              <a:t>Complete</a:t>
            </a:r>
          </a:p>
        </p:txBody>
      </p:sp>
      <p:cxnSp>
        <p:nvCxnSpPr>
          <p:cNvPr id="19" name="Connector 18"/>
          <p:cNvCxnSpPr>
            <a:cxnSpLocks/>
          </p:cNvCxnSpPr>
          <p:nvPr/>
        </p:nvCxnSpPr>
        <p:spPr>
          <a:xfrm>
            <a:off x="9667027" y="1312164"/>
            <a:ext cx="73152" cy="0"/>
          </a:xfrm>
          <a:prstGeom prst="line">
            <a:avLst/>
          </a:prstGeom>
          <a:ln>
            <a:solidFill>
              <a:srgbClr val="C33737"/>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740179" y="973836"/>
            <a:ext cx="1204976" cy="68580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t>Exit</a:t>
            </a:r>
          </a:p>
          <a:p>
            <a:pPr>
              <a:defRPr sz="950">
                <a:solidFill>
                  <a:srgbClr val="2D343C"/>
                </a:solidFill>
              </a:defRPr>
            </a:pPr>
            <a:r>
              <a:t>Employee inactive</a:t>
            </a:r>
          </a:p>
        </p:txBody>
      </p:sp>
      <p:sp>
        <p:nvSpPr>
          <p:cNvPr id="21" name="Rounded Rectangle 20"/>
          <p:cNvSpPr/>
          <p:nvPr/>
        </p:nvSpPr>
        <p:spPr>
          <a:xfrm>
            <a:off x="2231663" y="5206340"/>
            <a:ext cx="2291742" cy="1450491"/>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t>Details</a:t>
            </a:r>
          </a:p>
          <a:p>
            <a:pPr>
              <a:defRPr sz="950">
                <a:solidFill>
                  <a:srgbClr val="2D343C"/>
                </a:solidFill>
              </a:defRPr>
            </a:pPr>
            <a:r>
              <a:t>Type / reason</a:t>
            </a:r>
          </a:p>
          <a:p>
            <a:pPr>
              <a:defRPr sz="950">
                <a:solidFill>
                  <a:srgbClr val="2D343C"/>
                </a:solidFill>
              </a:defRPr>
            </a:pPr>
            <a:r>
              <a:t>Contract</a:t>
            </a:r>
          </a:p>
          <a:p>
            <a:pPr>
              <a:defRPr sz="950">
                <a:solidFill>
                  <a:srgbClr val="2D343C"/>
                </a:solidFill>
              </a:defRPr>
            </a:pPr>
            <a:r>
              <a:t>Notice period</a:t>
            </a:r>
          </a:p>
          <a:p>
            <a:pPr>
              <a:defRPr sz="950">
                <a:solidFill>
                  <a:srgbClr val="2D343C"/>
                </a:solidFill>
              </a:defRPr>
            </a:pPr>
            <a:r>
              <a:t>Relieving date</a:t>
            </a:r>
          </a:p>
        </p:txBody>
      </p:sp>
      <p:sp>
        <p:nvSpPr>
          <p:cNvPr id="22" name="Rounded Rectangle 21"/>
          <p:cNvSpPr/>
          <p:nvPr/>
        </p:nvSpPr>
        <p:spPr>
          <a:xfrm>
            <a:off x="6844985" y="5206341"/>
            <a:ext cx="2291742" cy="1450491"/>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rPr dirty="0"/>
              <a:t>Approval</a:t>
            </a:r>
          </a:p>
          <a:p>
            <a:pPr>
              <a:defRPr sz="950">
                <a:solidFill>
                  <a:srgbClr val="2D343C"/>
                </a:solidFill>
              </a:defRPr>
            </a:pPr>
            <a:r>
              <a:rPr dirty="0"/>
              <a:t>Submit</a:t>
            </a:r>
          </a:p>
          <a:p>
            <a:pPr>
              <a:defRPr sz="950">
                <a:solidFill>
                  <a:srgbClr val="2D343C"/>
                </a:solidFill>
              </a:defRPr>
            </a:pPr>
            <a:r>
              <a:rPr dirty="0"/>
              <a:t>Review</a:t>
            </a:r>
          </a:p>
          <a:p>
            <a:pPr>
              <a:defRPr sz="950">
                <a:solidFill>
                  <a:srgbClr val="2D343C"/>
                </a:solidFill>
              </a:defRPr>
            </a:pPr>
            <a:r>
              <a:rPr dirty="0"/>
              <a:t>Approve / reject</a:t>
            </a:r>
          </a:p>
          <a:p>
            <a:pPr>
              <a:defRPr sz="950">
                <a:solidFill>
                  <a:srgbClr val="2D343C"/>
                </a:solidFill>
              </a:defRPr>
            </a:pPr>
            <a:r>
              <a:rPr dirty="0"/>
              <a:t>Confirm last working date</a:t>
            </a:r>
          </a:p>
        </p:txBody>
      </p:sp>
      <p:sp>
        <p:nvSpPr>
          <p:cNvPr id="24" name="TextBox 23"/>
          <p:cNvSpPr txBox="1"/>
          <p:nvPr/>
        </p:nvSpPr>
        <p:spPr>
          <a:xfrm>
            <a:off x="548640" y="6565392"/>
            <a:ext cx="10972800" cy="182880"/>
          </a:xfrm>
          <a:prstGeom prst="rect">
            <a:avLst/>
          </a:prstGeom>
          <a:noFill/>
        </p:spPr>
        <p:txBody>
          <a:bodyPr wrap="none">
            <a:spAutoFit/>
          </a:bodyPr>
          <a:lstStyle/>
          <a:p>
            <a:pPr>
              <a:defRPr sz="800">
                <a:solidFill>
                  <a:srgbClr val="697078"/>
                </a:solidFill>
              </a:defRPr>
            </a:pPr>
            <a:r>
              <a:t>HR Process • 11</a:t>
            </a:r>
          </a:p>
        </p:txBody>
      </p:sp>
      <p:pic>
        <p:nvPicPr>
          <p:cNvPr id="33" name="Picture 32">
            <a:extLst>
              <a:ext uri="{FF2B5EF4-FFF2-40B4-BE49-F238E27FC236}">
                <a16:creationId xmlns:a16="http://schemas.microsoft.com/office/drawing/2014/main" id="{637C6F2B-98ED-759C-1383-FE4066F3CD38}"/>
              </a:ext>
            </a:extLst>
          </p:cNvPr>
          <p:cNvPicPr>
            <a:picLocks noChangeAspect="1"/>
          </p:cNvPicPr>
          <p:nvPr/>
        </p:nvPicPr>
        <p:blipFill>
          <a:blip r:embed="rId2"/>
          <a:stretch>
            <a:fillRect/>
          </a:stretch>
        </p:blipFill>
        <p:spPr>
          <a:xfrm>
            <a:off x="332693" y="2298654"/>
            <a:ext cx="4943130" cy="2668772"/>
          </a:xfrm>
          <a:prstGeom prst="rect">
            <a:avLst/>
          </a:prstGeom>
        </p:spPr>
      </p:pic>
      <p:pic>
        <p:nvPicPr>
          <p:cNvPr id="35" name="Picture 34">
            <a:extLst>
              <a:ext uri="{FF2B5EF4-FFF2-40B4-BE49-F238E27FC236}">
                <a16:creationId xmlns:a16="http://schemas.microsoft.com/office/drawing/2014/main" id="{D4404BC1-0725-06CA-33E3-097494B34FBE}"/>
              </a:ext>
            </a:extLst>
          </p:cNvPr>
          <p:cNvPicPr>
            <a:picLocks noChangeAspect="1"/>
          </p:cNvPicPr>
          <p:nvPr/>
        </p:nvPicPr>
        <p:blipFill>
          <a:blip r:embed="rId3"/>
          <a:stretch>
            <a:fillRect/>
          </a:stretch>
        </p:blipFill>
        <p:spPr>
          <a:xfrm>
            <a:off x="6414148" y="2298654"/>
            <a:ext cx="5445159" cy="2668771"/>
          </a:xfrm>
          <a:prstGeom prst="rect">
            <a:avLst/>
          </a:prstGeom>
        </p:spPr>
      </p:pic>
      <p:sp>
        <p:nvSpPr>
          <p:cNvPr id="36" name="Arrow: Up 35">
            <a:extLst>
              <a:ext uri="{FF2B5EF4-FFF2-40B4-BE49-F238E27FC236}">
                <a16:creationId xmlns:a16="http://schemas.microsoft.com/office/drawing/2014/main" id="{1B47F2D8-C134-FE96-BB15-ABC2A225A8CC}"/>
              </a:ext>
            </a:extLst>
          </p:cNvPr>
          <p:cNvSpPr/>
          <p:nvPr/>
        </p:nvSpPr>
        <p:spPr>
          <a:xfrm>
            <a:off x="375276" y="2604977"/>
            <a:ext cx="127644" cy="34024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8" name="Arrow: Up 37">
            <a:extLst>
              <a:ext uri="{FF2B5EF4-FFF2-40B4-BE49-F238E27FC236}">
                <a16:creationId xmlns:a16="http://schemas.microsoft.com/office/drawing/2014/main" id="{D1832B4C-1162-D885-F021-05F8C24CFB42}"/>
              </a:ext>
            </a:extLst>
          </p:cNvPr>
          <p:cNvSpPr/>
          <p:nvPr/>
        </p:nvSpPr>
        <p:spPr>
          <a:xfrm>
            <a:off x="6496560" y="2799907"/>
            <a:ext cx="127644" cy="34024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Arrow: Up 39">
            <a:extLst>
              <a:ext uri="{FF2B5EF4-FFF2-40B4-BE49-F238E27FC236}">
                <a16:creationId xmlns:a16="http://schemas.microsoft.com/office/drawing/2014/main" id="{A5F2B4B4-3547-F967-6ABA-C5530825795B}"/>
              </a:ext>
            </a:extLst>
          </p:cNvPr>
          <p:cNvSpPr/>
          <p:nvPr/>
        </p:nvSpPr>
        <p:spPr>
          <a:xfrm rot="10800000">
            <a:off x="8462051" y="2746744"/>
            <a:ext cx="127644" cy="340242"/>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41" name="Straight Arrow Connector 40">
            <a:extLst>
              <a:ext uri="{FF2B5EF4-FFF2-40B4-BE49-F238E27FC236}">
                <a16:creationId xmlns:a16="http://schemas.microsoft.com/office/drawing/2014/main" id="{50EFB65A-381F-3B50-EA3C-FB1764A7C276}"/>
              </a:ext>
            </a:extLst>
          </p:cNvPr>
          <p:cNvCxnSpPr>
            <a:cxnSpLocks/>
            <a:endCxn id="35" idx="1"/>
          </p:cNvCxnSpPr>
          <p:nvPr/>
        </p:nvCxnSpPr>
        <p:spPr>
          <a:xfrm flipV="1">
            <a:off x="5275823" y="3633040"/>
            <a:ext cx="1138325" cy="2951"/>
          </a:xfrm>
          <a:prstGeom prst="straightConnector1">
            <a:avLst/>
          </a:prstGeom>
          <a:ln w="38100">
            <a:solidFill>
              <a:schemeClr val="tx1"/>
            </a:solidFill>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0972800" cy="502920"/>
          </a:xfrm>
          <a:prstGeom prst="rect">
            <a:avLst/>
          </a:prstGeom>
          <a:noFill/>
        </p:spPr>
        <p:txBody>
          <a:bodyPr wrap="none">
            <a:spAutoFit/>
          </a:bodyPr>
          <a:lstStyle/>
          <a:p>
            <a:pPr>
              <a:defRPr sz="2500" b="1">
                <a:solidFill>
                  <a:srgbClr val="16375E"/>
                </a:solidFill>
              </a:defRPr>
            </a:pPr>
            <a:r>
              <a:t>11. Complete Click-by-Click Summary</a:t>
            </a:r>
          </a:p>
        </p:txBody>
      </p:sp>
      <p:sp>
        <p:nvSpPr>
          <p:cNvPr id="4" name="Rounded Rectangle 3"/>
          <p:cNvSpPr/>
          <p:nvPr/>
        </p:nvSpPr>
        <p:spPr>
          <a:xfrm>
            <a:off x="502920" y="1051560"/>
            <a:ext cx="5394960" cy="1051560"/>
          </a:xfrm>
          <a:prstGeom prst="roundRect">
            <a:avLst/>
          </a:prstGeom>
          <a:solidFill>
            <a:srgbClr val="F7F9FC"/>
          </a:solidFill>
          <a:ln>
            <a:solidFill>
              <a:srgbClr val="377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8BE"/>
                </a:solidFill>
              </a:defRPr>
            </a:pPr>
            <a:r>
              <a:t>Recruitment</a:t>
            </a:r>
          </a:p>
          <a:p>
            <a:pPr>
              <a:defRPr sz="950">
                <a:solidFill>
                  <a:srgbClr val="2D343C"/>
                </a:solidFill>
              </a:defRPr>
            </a:pPr>
            <a:r>
              <a:t>Job</a:t>
            </a:r>
          </a:p>
          <a:p>
            <a:pPr>
              <a:defRPr sz="950">
                <a:solidFill>
                  <a:srgbClr val="2D343C"/>
                </a:solidFill>
              </a:defRPr>
            </a:pPr>
            <a:r>
              <a:t>Candidates</a:t>
            </a:r>
          </a:p>
          <a:p>
            <a:pPr>
              <a:defRPr sz="950">
                <a:solidFill>
                  <a:srgbClr val="2D343C"/>
                </a:solidFill>
              </a:defRPr>
            </a:pPr>
            <a:r>
              <a:t>Interview</a:t>
            </a:r>
          </a:p>
          <a:p>
            <a:pPr>
              <a:defRPr sz="950">
                <a:solidFill>
                  <a:srgbClr val="2D343C"/>
                </a:solidFill>
              </a:defRPr>
            </a:pPr>
            <a:r>
              <a:t>Selection</a:t>
            </a:r>
          </a:p>
        </p:txBody>
      </p:sp>
      <p:sp>
        <p:nvSpPr>
          <p:cNvPr id="5" name="Rounded Rectangle 4"/>
          <p:cNvSpPr/>
          <p:nvPr/>
        </p:nvSpPr>
        <p:spPr>
          <a:xfrm>
            <a:off x="6217920" y="1051560"/>
            <a:ext cx="5394960" cy="1051560"/>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t>Department</a:t>
            </a:r>
          </a:p>
          <a:p>
            <a:pPr>
              <a:defRPr sz="950">
                <a:solidFill>
                  <a:srgbClr val="2D343C"/>
                </a:solidFill>
              </a:defRPr>
            </a:pPr>
            <a:r>
              <a:t>Check existing</a:t>
            </a:r>
          </a:p>
          <a:p>
            <a:pPr>
              <a:defRPr sz="950">
                <a:solidFill>
                  <a:srgbClr val="2D343C"/>
                </a:solidFill>
              </a:defRPr>
            </a:pPr>
            <a:r>
              <a:t>Create if missing</a:t>
            </a:r>
          </a:p>
          <a:p>
            <a:pPr>
              <a:defRPr sz="950">
                <a:solidFill>
                  <a:srgbClr val="2D343C"/>
                </a:solidFill>
              </a:defRPr>
            </a:pPr>
            <a:r>
              <a:t>Save</a:t>
            </a:r>
          </a:p>
        </p:txBody>
      </p:sp>
      <p:sp>
        <p:nvSpPr>
          <p:cNvPr id="6" name="Rounded Rectangle 5"/>
          <p:cNvSpPr/>
          <p:nvPr/>
        </p:nvSpPr>
        <p:spPr>
          <a:xfrm>
            <a:off x="502920" y="2313432"/>
            <a:ext cx="5394960" cy="105156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Employee</a:t>
            </a:r>
          </a:p>
          <a:p>
            <a:pPr>
              <a:defRPr sz="950">
                <a:solidFill>
                  <a:srgbClr val="2D343C"/>
                </a:solidFill>
              </a:defRPr>
            </a:pPr>
            <a:r>
              <a:t>New</a:t>
            </a:r>
          </a:p>
          <a:p>
            <a:pPr>
              <a:defRPr sz="950">
                <a:solidFill>
                  <a:srgbClr val="2D343C"/>
                </a:solidFill>
              </a:defRPr>
            </a:pPr>
            <a:r>
              <a:t>Department</a:t>
            </a:r>
          </a:p>
          <a:p>
            <a:pPr>
              <a:defRPr sz="950">
                <a:solidFill>
                  <a:srgbClr val="2D343C"/>
                </a:solidFill>
              </a:defRPr>
            </a:pPr>
            <a:r>
              <a:t>Job</a:t>
            </a:r>
          </a:p>
          <a:p>
            <a:pPr>
              <a:defRPr sz="950">
                <a:solidFill>
                  <a:srgbClr val="2D343C"/>
                </a:solidFill>
              </a:defRPr>
            </a:pPr>
            <a:r>
              <a:t>Joining date</a:t>
            </a:r>
          </a:p>
          <a:p>
            <a:pPr>
              <a:defRPr sz="950">
                <a:solidFill>
                  <a:srgbClr val="2D343C"/>
                </a:solidFill>
              </a:defRPr>
            </a:pPr>
            <a:r>
              <a:t>Details</a:t>
            </a:r>
          </a:p>
          <a:p>
            <a:pPr>
              <a:defRPr sz="950">
                <a:solidFill>
                  <a:srgbClr val="2D343C"/>
                </a:solidFill>
              </a:defRPr>
            </a:pPr>
            <a:r>
              <a:t>Save</a:t>
            </a:r>
          </a:p>
        </p:txBody>
      </p:sp>
      <p:sp>
        <p:nvSpPr>
          <p:cNvPr id="7" name="Rounded Rectangle 6"/>
          <p:cNvSpPr/>
          <p:nvPr/>
        </p:nvSpPr>
        <p:spPr>
          <a:xfrm>
            <a:off x="6217920" y="2313432"/>
            <a:ext cx="5394960" cy="105156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Contract</a:t>
            </a:r>
          </a:p>
          <a:p>
            <a:pPr>
              <a:defRPr sz="950">
                <a:solidFill>
                  <a:srgbClr val="2D343C"/>
                </a:solidFill>
              </a:defRPr>
            </a:pPr>
            <a:r>
              <a:t>New</a:t>
            </a:r>
          </a:p>
          <a:p>
            <a:pPr>
              <a:defRPr sz="950">
                <a:solidFill>
                  <a:srgbClr val="2D343C"/>
                </a:solidFill>
              </a:defRPr>
            </a:pPr>
            <a:r>
              <a:t>Job</a:t>
            </a:r>
          </a:p>
          <a:p>
            <a:pPr>
              <a:defRPr sz="950">
                <a:solidFill>
                  <a:srgbClr val="2D343C"/>
                </a:solidFill>
              </a:defRPr>
            </a:pPr>
            <a:r>
              <a:t>Salary structure</a:t>
            </a:r>
          </a:p>
          <a:p>
            <a:pPr>
              <a:defRPr sz="950">
                <a:solidFill>
                  <a:srgbClr val="2D343C"/>
                </a:solidFill>
              </a:defRPr>
            </a:pPr>
            <a:r>
              <a:t>Wage</a:t>
            </a:r>
          </a:p>
          <a:p>
            <a:pPr>
              <a:defRPr sz="950">
                <a:solidFill>
                  <a:srgbClr val="2D343C"/>
                </a:solidFill>
              </a:defRPr>
            </a:pPr>
            <a:r>
              <a:t>Terms</a:t>
            </a:r>
          </a:p>
          <a:p>
            <a:pPr>
              <a:defRPr sz="950">
                <a:solidFill>
                  <a:srgbClr val="2D343C"/>
                </a:solidFill>
              </a:defRPr>
            </a:pPr>
            <a:r>
              <a:t>Confirm</a:t>
            </a:r>
          </a:p>
        </p:txBody>
      </p:sp>
      <p:sp>
        <p:nvSpPr>
          <p:cNvPr id="8" name="Rounded Rectangle 7"/>
          <p:cNvSpPr/>
          <p:nvPr/>
        </p:nvSpPr>
        <p:spPr>
          <a:xfrm>
            <a:off x="502920" y="3575303"/>
            <a:ext cx="5394960" cy="1051560"/>
          </a:xfrm>
          <a:prstGeom prst="roundRect">
            <a:avLst/>
          </a:prstGeom>
          <a:solidFill>
            <a:srgbClr val="F7F9FC"/>
          </a:solidFill>
          <a:ln>
            <a:solidFill>
              <a:srgbClr val="CA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A911C"/>
                </a:solidFill>
              </a:defRPr>
            </a:pPr>
            <a:r>
              <a:t>Leave</a:t>
            </a:r>
          </a:p>
          <a:p>
            <a:pPr>
              <a:defRPr sz="950">
                <a:solidFill>
                  <a:srgbClr val="2D343C"/>
                </a:solidFill>
              </a:defRPr>
            </a:pPr>
            <a:r>
              <a:t>Request</a:t>
            </a:r>
          </a:p>
          <a:p>
            <a:pPr>
              <a:defRPr sz="950">
                <a:solidFill>
                  <a:srgbClr val="2D343C"/>
                </a:solidFill>
              </a:defRPr>
            </a:pPr>
            <a:r>
              <a:t>Type</a:t>
            </a:r>
          </a:p>
          <a:p>
            <a:pPr>
              <a:defRPr sz="950">
                <a:solidFill>
                  <a:srgbClr val="2D343C"/>
                </a:solidFill>
              </a:defRPr>
            </a:pPr>
            <a:r>
              <a:t>Dates</a:t>
            </a:r>
          </a:p>
          <a:p>
            <a:pPr>
              <a:defRPr sz="950">
                <a:solidFill>
                  <a:srgbClr val="2D343C"/>
                </a:solidFill>
              </a:defRPr>
            </a:pPr>
            <a:r>
              <a:t>Submit</a:t>
            </a:r>
          </a:p>
          <a:p>
            <a:pPr>
              <a:defRPr sz="950">
                <a:solidFill>
                  <a:srgbClr val="2D343C"/>
                </a:solidFill>
              </a:defRPr>
            </a:pPr>
            <a:r>
              <a:t>Approve</a:t>
            </a:r>
          </a:p>
        </p:txBody>
      </p:sp>
      <p:sp>
        <p:nvSpPr>
          <p:cNvPr id="9" name="Rounded Rectangle 8"/>
          <p:cNvSpPr/>
          <p:nvPr/>
        </p:nvSpPr>
        <p:spPr>
          <a:xfrm>
            <a:off x="6217920" y="3575303"/>
            <a:ext cx="5394960" cy="1051560"/>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t>Attendance</a:t>
            </a:r>
          </a:p>
          <a:p>
            <a:pPr>
              <a:defRPr sz="950">
                <a:solidFill>
                  <a:srgbClr val="2D343C"/>
                </a:solidFill>
              </a:defRPr>
            </a:pPr>
            <a:r>
              <a:t>Check-in</a:t>
            </a:r>
          </a:p>
          <a:p>
            <a:pPr>
              <a:defRPr sz="950">
                <a:solidFill>
                  <a:srgbClr val="2D343C"/>
                </a:solidFill>
              </a:defRPr>
            </a:pPr>
            <a:r>
              <a:t>Check-out</a:t>
            </a:r>
          </a:p>
          <a:p>
            <a:pPr>
              <a:defRPr sz="950">
                <a:solidFill>
                  <a:srgbClr val="2D343C"/>
                </a:solidFill>
              </a:defRPr>
            </a:pPr>
            <a:r>
              <a:t>Process</a:t>
            </a:r>
          </a:p>
          <a:p>
            <a:pPr>
              <a:defRPr sz="950">
                <a:solidFill>
                  <a:srgbClr val="2D343C"/>
                </a:solidFill>
              </a:defRPr>
            </a:pPr>
            <a:r>
              <a:t>Work entries</a:t>
            </a:r>
          </a:p>
        </p:txBody>
      </p:sp>
      <p:sp>
        <p:nvSpPr>
          <p:cNvPr id="10" name="Rounded Rectangle 9"/>
          <p:cNvSpPr/>
          <p:nvPr/>
        </p:nvSpPr>
        <p:spPr>
          <a:xfrm>
            <a:off x="502920" y="4837175"/>
            <a:ext cx="5394960" cy="105156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t>Salary / Payroll</a:t>
            </a:r>
          </a:p>
          <a:p>
            <a:pPr>
              <a:defRPr sz="950">
                <a:solidFill>
                  <a:srgbClr val="2D343C"/>
                </a:solidFill>
              </a:defRPr>
            </a:pPr>
            <a:r>
              <a:t>Structure</a:t>
            </a:r>
          </a:p>
          <a:p>
            <a:pPr>
              <a:defRPr sz="950">
                <a:solidFill>
                  <a:srgbClr val="2D343C"/>
                </a:solidFill>
              </a:defRPr>
            </a:pPr>
            <a:r>
              <a:t>Rules</a:t>
            </a:r>
          </a:p>
          <a:p>
            <a:pPr>
              <a:defRPr sz="950">
                <a:solidFill>
                  <a:srgbClr val="2D343C"/>
                </a:solidFill>
              </a:defRPr>
            </a:pPr>
            <a:r>
              <a:t>Contract</a:t>
            </a:r>
          </a:p>
          <a:p>
            <a:pPr>
              <a:defRPr sz="950">
                <a:solidFill>
                  <a:srgbClr val="2D343C"/>
                </a:solidFill>
              </a:defRPr>
            </a:pPr>
            <a:r>
              <a:t>Payslip</a:t>
            </a:r>
          </a:p>
          <a:p>
            <a:pPr>
              <a:defRPr sz="950">
                <a:solidFill>
                  <a:srgbClr val="2D343C"/>
                </a:solidFill>
              </a:defRPr>
            </a:pPr>
            <a:r>
              <a:t>Review</a:t>
            </a:r>
          </a:p>
          <a:p>
            <a:pPr>
              <a:defRPr sz="950">
                <a:solidFill>
                  <a:srgbClr val="2D343C"/>
                </a:solidFill>
              </a:defRPr>
            </a:pPr>
            <a:r>
              <a:t>Confirm</a:t>
            </a:r>
          </a:p>
        </p:txBody>
      </p:sp>
      <p:sp>
        <p:nvSpPr>
          <p:cNvPr id="11" name="Rounded Rectangle 10"/>
          <p:cNvSpPr/>
          <p:nvPr/>
        </p:nvSpPr>
        <p:spPr>
          <a:xfrm>
            <a:off x="6217920" y="4837175"/>
            <a:ext cx="5394960" cy="105156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t>Resignation</a:t>
            </a:r>
          </a:p>
          <a:p>
            <a:pPr>
              <a:defRPr sz="950">
                <a:solidFill>
                  <a:srgbClr val="2D343C"/>
                </a:solidFill>
              </a:defRPr>
            </a:pPr>
            <a:r>
              <a:t>Details</a:t>
            </a:r>
          </a:p>
          <a:p>
            <a:pPr>
              <a:defRPr sz="950">
                <a:solidFill>
                  <a:srgbClr val="2D343C"/>
                </a:solidFill>
              </a:defRPr>
            </a:pPr>
            <a:r>
              <a:t>Notice</a:t>
            </a:r>
          </a:p>
          <a:p>
            <a:pPr>
              <a:defRPr sz="950">
                <a:solidFill>
                  <a:srgbClr val="2D343C"/>
                </a:solidFill>
              </a:defRPr>
            </a:pPr>
            <a:r>
              <a:t>Approval</a:t>
            </a:r>
          </a:p>
          <a:p>
            <a:pPr>
              <a:defRPr sz="950">
                <a:solidFill>
                  <a:srgbClr val="2D343C"/>
                </a:solidFill>
              </a:defRPr>
            </a:pPr>
            <a:r>
              <a:t>Last day</a:t>
            </a:r>
          </a:p>
          <a:p>
            <a:pPr>
              <a:defRPr sz="950">
                <a:solidFill>
                  <a:srgbClr val="2D343C"/>
                </a:solidFill>
              </a:defRPr>
            </a:pPr>
            <a:r>
              <a:t>Clearance</a:t>
            </a:r>
          </a:p>
          <a:p>
            <a:pPr>
              <a:defRPr sz="950">
                <a:solidFill>
                  <a:srgbClr val="2D343C"/>
                </a:solidFill>
              </a:defRPr>
            </a:pPr>
            <a:r>
              <a:t>Exit</a:t>
            </a:r>
          </a:p>
        </p:txBody>
      </p:sp>
      <p:sp>
        <p:nvSpPr>
          <p:cNvPr id="12" name="TextBox 11"/>
          <p:cNvSpPr txBox="1"/>
          <p:nvPr/>
        </p:nvSpPr>
        <p:spPr>
          <a:xfrm>
            <a:off x="548640" y="6565392"/>
            <a:ext cx="10972800" cy="182880"/>
          </a:xfrm>
          <a:prstGeom prst="rect">
            <a:avLst/>
          </a:prstGeom>
          <a:noFill/>
        </p:spPr>
        <p:txBody>
          <a:bodyPr wrap="none">
            <a:spAutoFit/>
          </a:bodyPr>
          <a:lstStyle/>
          <a:p>
            <a:pPr>
              <a:defRPr sz="800">
                <a:solidFill>
                  <a:srgbClr val="697078"/>
                </a:solidFill>
              </a:defRPr>
            </a:pPr>
            <a:r>
              <a:t>HR Process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6105" y="79622"/>
            <a:ext cx="10972800" cy="502920"/>
          </a:xfrm>
          <a:prstGeom prst="rect">
            <a:avLst/>
          </a:prstGeom>
          <a:noFill/>
        </p:spPr>
        <p:txBody>
          <a:bodyPr wrap="none">
            <a:spAutoFit/>
          </a:bodyPr>
          <a:lstStyle/>
          <a:p>
            <a:pPr>
              <a:defRPr sz="2500" b="1">
                <a:solidFill>
                  <a:srgbClr val="16375E"/>
                </a:solidFill>
              </a:defRPr>
            </a:pPr>
            <a:r>
              <a:rPr dirty="0"/>
              <a:t>12. Full Visual Reference</a:t>
            </a:r>
          </a:p>
        </p:txBody>
      </p:sp>
      <p:pic>
        <p:nvPicPr>
          <p:cNvPr id="8" name="Picture 7">
            <a:extLst>
              <a:ext uri="{FF2B5EF4-FFF2-40B4-BE49-F238E27FC236}">
                <a16:creationId xmlns:a16="http://schemas.microsoft.com/office/drawing/2014/main" id="{2713A347-A245-36D2-AEF2-BED41AF44E90}"/>
              </a:ext>
            </a:extLst>
          </p:cNvPr>
          <p:cNvPicPr>
            <a:picLocks noChangeAspect="1"/>
          </p:cNvPicPr>
          <p:nvPr/>
        </p:nvPicPr>
        <p:blipFill>
          <a:blip r:embed="rId2"/>
          <a:stretch>
            <a:fillRect/>
          </a:stretch>
        </p:blipFill>
        <p:spPr>
          <a:xfrm>
            <a:off x="209909" y="435892"/>
            <a:ext cx="11875986" cy="63424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0972800" cy="502920"/>
          </a:xfrm>
          <a:prstGeom prst="rect">
            <a:avLst/>
          </a:prstGeom>
          <a:noFill/>
        </p:spPr>
        <p:txBody>
          <a:bodyPr wrap="none">
            <a:spAutoFit/>
          </a:bodyPr>
          <a:lstStyle/>
          <a:p>
            <a:pPr>
              <a:defRPr sz="2500" b="1">
                <a:solidFill>
                  <a:srgbClr val="16375E"/>
                </a:solidFill>
              </a:defRPr>
            </a:pPr>
            <a:r>
              <a:t>13. Process Notes</a:t>
            </a:r>
          </a:p>
        </p:txBody>
      </p:sp>
      <p:sp>
        <p:nvSpPr>
          <p:cNvPr id="4" name="Rounded Rectangle 3"/>
          <p:cNvSpPr/>
          <p:nvPr/>
        </p:nvSpPr>
        <p:spPr>
          <a:xfrm>
            <a:off x="640080" y="1143000"/>
            <a:ext cx="3474720" cy="2103120"/>
          </a:xfrm>
          <a:prstGeom prst="roundRect">
            <a:avLst/>
          </a:prstGeom>
          <a:solidFill>
            <a:srgbClr val="F7F9FC"/>
          </a:solidFill>
          <a:ln>
            <a:solidFill>
              <a:srgbClr val="3D8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D8949"/>
                </a:solidFill>
              </a:defRPr>
            </a:pPr>
            <a:r>
              <a:t>Department Rule</a:t>
            </a:r>
          </a:p>
          <a:p>
            <a:pPr>
              <a:defRPr sz="950">
                <a:solidFill>
                  <a:srgbClr val="2D343C"/>
                </a:solidFill>
              </a:defRPr>
            </a:pPr>
            <a:r>
              <a:t>Recruitment identifies department</a:t>
            </a:r>
          </a:p>
          <a:p>
            <a:pPr>
              <a:defRPr sz="950">
                <a:solidFill>
                  <a:srgbClr val="2D343C"/>
                </a:solidFill>
              </a:defRPr>
            </a:pPr>
            <a:r>
              <a:t>Existing → use it</a:t>
            </a:r>
          </a:p>
          <a:p>
            <a:pPr>
              <a:defRPr sz="950">
                <a:solidFill>
                  <a:srgbClr val="2D343C"/>
                </a:solidFill>
              </a:defRPr>
            </a:pPr>
            <a:r>
              <a:t>Missing → create it</a:t>
            </a:r>
          </a:p>
          <a:p>
            <a:pPr>
              <a:defRPr sz="950">
                <a:solidFill>
                  <a:srgbClr val="2D343C"/>
                </a:solidFill>
              </a:defRPr>
            </a:pPr>
            <a:r>
              <a:t>Then employee</a:t>
            </a:r>
          </a:p>
        </p:txBody>
      </p:sp>
      <p:sp>
        <p:nvSpPr>
          <p:cNvPr id="5" name="Rounded Rectangle 4"/>
          <p:cNvSpPr/>
          <p:nvPr/>
        </p:nvSpPr>
        <p:spPr>
          <a:xfrm>
            <a:off x="4343400" y="1143000"/>
            <a:ext cx="3474720" cy="2103120"/>
          </a:xfrm>
          <a:prstGeom prst="roundRect">
            <a:avLst/>
          </a:prstGeom>
          <a:solidFill>
            <a:srgbClr val="F7F9FC"/>
          </a:solidFill>
          <a:ln>
            <a:solidFill>
              <a:srgbClr val="DC702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C7023"/>
                </a:solidFill>
              </a:defRPr>
            </a:pPr>
            <a:r>
              <a:t>Employee Rule</a:t>
            </a:r>
          </a:p>
          <a:p>
            <a:pPr>
              <a:defRPr sz="950">
                <a:solidFill>
                  <a:srgbClr val="2D343C"/>
                </a:solidFill>
              </a:defRPr>
            </a:pPr>
            <a:r>
              <a:t>Create after department ready</a:t>
            </a:r>
          </a:p>
          <a:p>
            <a:pPr>
              <a:defRPr sz="950">
                <a:solidFill>
                  <a:srgbClr val="2D343C"/>
                </a:solidFill>
              </a:defRPr>
            </a:pPr>
            <a:r>
              <a:t>Complete details</a:t>
            </a:r>
          </a:p>
          <a:p>
            <a:pPr>
              <a:defRPr sz="950">
                <a:solidFill>
                  <a:srgbClr val="2D343C"/>
                </a:solidFill>
              </a:defRPr>
            </a:pPr>
            <a:r>
              <a:t>Create contract</a:t>
            </a:r>
          </a:p>
          <a:p>
            <a:pPr>
              <a:defRPr sz="950">
                <a:solidFill>
                  <a:srgbClr val="2D343C"/>
                </a:solidFill>
              </a:defRPr>
            </a:pPr>
            <a:r>
              <a:t>Connect salary structure</a:t>
            </a:r>
          </a:p>
        </p:txBody>
      </p:sp>
      <p:sp>
        <p:nvSpPr>
          <p:cNvPr id="6" name="Rounded Rectangle 5"/>
          <p:cNvSpPr/>
          <p:nvPr/>
        </p:nvSpPr>
        <p:spPr>
          <a:xfrm>
            <a:off x="8046720" y="1143000"/>
            <a:ext cx="3474720" cy="2103120"/>
          </a:xfrm>
          <a:prstGeom prst="roundRect">
            <a:avLst/>
          </a:prstGeom>
          <a:solidFill>
            <a:srgbClr val="F7F9FC"/>
          </a:solidFill>
          <a:ln>
            <a:solidFill>
              <a:srgbClr val="694B9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694B9B"/>
                </a:solidFill>
              </a:defRPr>
            </a:pPr>
            <a:r>
              <a:rPr dirty="0"/>
              <a:t>Payroll Rule</a:t>
            </a:r>
          </a:p>
          <a:p>
            <a:pPr>
              <a:defRPr sz="950">
                <a:solidFill>
                  <a:srgbClr val="2D343C"/>
                </a:solidFill>
              </a:defRPr>
            </a:pPr>
            <a:r>
              <a:rPr dirty="0"/>
              <a:t>Configure salary structure</a:t>
            </a:r>
          </a:p>
          <a:p>
            <a:pPr>
              <a:defRPr sz="950">
                <a:solidFill>
                  <a:srgbClr val="2D343C"/>
                </a:solidFill>
              </a:defRPr>
            </a:pPr>
            <a:r>
              <a:rPr dirty="0"/>
              <a:t>Attendance + leave feed payroll</a:t>
            </a:r>
          </a:p>
          <a:p>
            <a:pPr>
              <a:defRPr sz="950">
                <a:solidFill>
                  <a:srgbClr val="2D343C"/>
                </a:solidFill>
              </a:defRPr>
            </a:pPr>
            <a:r>
              <a:rPr dirty="0"/>
              <a:t>Review before confirmation</a:t>
            </a:r>
          </a:p>
        </p:txBody>
      </p:sp>
      <p:sp>
        <p:nvSpPr>
          <p:cNvPr id="7" name="Rounded Rectangle 6"/>
          <p:cNvSpPr/>
          <p:nvPr/>
        </p:nvSpPr>
        <p:spPr>
          <a:xfrm>
            <a:off x="640080" y="3520440"/>
            <a:ext cx="3474720" cy="2103120"/>
          </a:xfrm>
          <a:prstGeom prst="roundRect">
            <a:avLst/>
          </a:prstGeom>
          <a:solidFill>
            <a:srgbClr val="F7F9FC"/>
          </a:solidFill>
          <a:ln>
            <a:solidFill>
              <a:srgbClr val="267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7E8B"/>
                </a:solidFill>
              </a:defRPr>
            </a:pPr>
            <a:r>
              <a:t>Daily HR</a:t>
            </a:r>
          </a:p>
          <a:p>
            <a:pPr>
              <a:defRPr sz="950">
                <a:solidFill>
                  <a:srgbClr val="2D343C"/>
                </a:solidFill>
              </a:defRPr>
            </a:pPr>
            <a:r>
              <a:t>Leave request → approval</a:t>
            </a:r>
          </a:p>
          <a:p>
            <a:pPr>
              <a:defRPr sz="950">
                <a:solidFill>
                  <a:srgbClr val="2D343C"/>
                </a:solidFill>
              </a:defRPr>
            </a:pPr>
            <a:r>
              <a:t>Check-in / check-out</a:t>
            </a:r>
          </a:p>
          <a:p>
            <a:pPr>
              <a:defRPr sz="950">
                <a:solidFill>
                  <a:srgbClr val="2D343C"/>
                </a:solidFill>
              </a:defRPr>
            </a:pPr>
            <a:r>
              <a:t>Attendance processing</a:t>
            </a:r>
          </a:p>
          <a:p>
            <a:pPr>
              <a:defRPr sz="950">
                <a:solidFill>
                  <a:srgbClr val="2D343C"/>
                </a:solidFill>
              </a:defRPr>
            </a:pPr>
            <a:r>
              <a:t>Work entries</a:t>
            </a:r>
          </a:p>
        </p:txBody>
      </p:sp>
      <p:sp>
        <p:nvSpPr>
          <p:cNvPr id="8" name="Rounded Rectangle 7"/>
          <p:cNvSpPr/>
          <p:nvPr/>
        </p:nvSpPr>
        <p:spPr>
          <a:xfrm>
            <a:off x="4343400" y="3520440"/>
            <a:ext cx="3474720" cy="2103120"/>
          </a:xfrm>
          <a:prstGeom prst="roundRect">
            <a:avLst/>
          </a:prstGeom>
          <a:solidFill>
            <a:srgbClr val="F7F9FC"/>
          </a:solidFill>
          <a:ln>
            <a:solidFill>
              <a:srgbClr val="C3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C33737"/>
                </a:solidFill>
              </a:defRPr>
            </a:pPr>
            <a:r>
              <a:t>Exit Rule</a:t>
            </a:r>
          </a:p>
          <a:p>
            <a:pPr>
              <a:defRPr sz="950">
                <a:solidFill>
                  <a:srgbClr val="2D343C"/>
                </a:solidFill>
              </a:defRPr>
            </a:pPr>
            <a:r>
              <a:t>Resignation</a:t>
            </a:r>
          </a:p>
          <a:p>
            <a:pPr>
              <a:defRPr sz="950">
                <a:solidFill>
                  <a:srgbClr val="2D343C"/>
                </a:solidFill>
              </a:defRPr>
            </a:pPr>
            <a:r>
              <a:t>Notice period</a:t>
            </a:r>
          </a:p>
          <a:p>
            <a:pPr>
              <a:defRPr sz="950">
                <a:solidFill>
                  <a:srgbClr val="2D343C"/>
                </a:solidFill>
              </a:defRPr>
            </a:pPr>
            <a:r>
              <a:t>Approval</a:t>
            </a:r>
          </a:p>
          <a:p>
            <a:pPr>
              <a:defRPr sz="950">
                <a:solidFill>
                  <a:srgbClr val="2D343C"/>
                </a:solidFill>
              </a:defRPr>
            </a:pPr>
            <a:r>
              <a:t>Last working date</a:t>
            </a:r>
          </a:p>
          <a:p>
            <a:pPr>
              <a:defRPr sz="950">
                <a:solidFill>
                  <a:srgbClr val="2D343C"/>
                </a:solidFill>
              </a:defRPr>
            </a:pPr>
            <a:r>
              <a:t>Clearance</a:t>
            </a:r>
          </a:p>
        </p:txBody>
      </p:sp>
      <p:sp>
        <p:nvSpPr>
          <p:cNvPr id="9" name="Rounded Rectangle 8"/>
          <p:cNvSpPr/>
          <p:nvPr/>
        </p:nvSpPr>
        <p:spPr>
          <a:xfrm>
            <a:off x="8046720" y="3520440"/>
            <a:ext cx="3474720" cy="2103120"/>
          </a:xfrm>
          <a:prstGeom prst="roundRect">
            <a:avLst/>
          </a:prstGeom>
          <a:solidFill>
            <a:srgbClr val="F7F9FC"/>
          </a:solidFill>
          <a:ln>
            <a:solidFill>
              <a:srgbClr val="1637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6375E"/>
                </a:solidFill>
              </a:defRPr>
            </a:pPr>
            <a:r>
              <a:t>Overall</a:t>
            </a:r>
          </a:p>
          <a:p>
            <a:pPr>
              <a:defRPr sz="950">
                <a:solidFill>
                  <a:srgbClr val="2D343C"/>
                </a:solidFill>
              </a:defRPr>
            </a:pPr>
            <a:r>
              <a:t>Recruitment</a:t>
            </a:r>
          </a:p>
          <a:p>
            <a:pPr>
              <a:defRPr sz="950">
                <a:solidFill>
                  <a:srgbClr val="2D343C"/>
                </a:solidFill>
              </a:defRPr>
            </a:pPr>
            <a:r>
              <a:t>Department</a:t>
            </a:r>
          </a:p>
          <a:p>
            <a:pPr>
              <a:defRPr sz="950">
                <a:solidFill>
                  <a:srgbClr val="2D343C"/>
                </a:solidFill>
              </a:defRPr>
            </a:pPr>
            <a:r>
              <a:t>Employee</a:t>
            </a:r>
          </a:p>
          <a:p>
            <a:pPr>
              <a:defRPr sz="950">
                <a:solidFill>
                  <a:srgbClr val="2D343C"/>
                </a:solidFill>
              </a:defRPr>
            </a:pPr>
            <a:r>
              <a:t>Contract</a:t>
            </a:r>
          </a:p>
          <a:p>
            <a:pPr>
              <a:defRPr sz="950">
                <a:solidFill>
                  <a:srgbClr val="2D343C"/>
                </a:solidFill>
              </a:defRPr>
            </a:pPr>
            <a:r>
              <a:t>Leave / Attendance</a:t>
            </a:r>
          </a:p>
          <a:p>
            <a:pPr>
              <a:defRPr sz="950">
                <a:solidFill>
                  <a:srgbClr val="2D343C"/>
                </a:solidFill>
              </a:defRPr>
            </a:pPr>
            <a:r>
              <a:t>Salary / Payroll</a:t>
            </a:r>
          </a:p>
          <a:p>
            <a:pPr>
              <a:defRPr sz="950">
                <a:solidFill>
                  <a:srgbClr val="2D343C"/>
                </a:solidFill>
              </a:defRPr>
            </a:pPr>
            <a:r>
              <a:t>Exit</a:t>
            </a:r>
          </a:p>
        </p:txBody>
      </p:sp>
      <p:sp>
        <p:nvSpPr>
          <p:cNvPr id="10" name="TextBox 9"/>
          <p:cNvSpPr txBox="1"/>
          <p:nvPr/>
        </p:nvSpPr>
        <p:spPr>
          <a:xfrm>
            <a:off x="548640" y="6565392"/>
            <a:ext cx="10972800" cy="182880"/>
          </a:xfrm>
          <a:prstGeom prst="rect">
            <a:avLst/>
          </a:prstGeom>
          <a:noFill/>
        </p:spPr>
        <p:txBody>
          <a:bodyPr wrap="none">
            <a:spAutoFit/>
          </a:bodyPr>
          <a:lstStyle/>
          <a:p>
            <a:pPr>
              <a:defRPr sz="800">
                <a:solidFill>
                  <a:srgbClr val="697078"/>
                </a:solidFill>
              </a:defRPr>
            </a:pPr>
            <a:r>
              <a:t>HR Process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2982</TotalTime>
  <Words>1279</Words>
  <Application>Microsoft Office PowerPoint</Application>
  <PresentationFormat>Widescreen</PresentationFormat>
  <Paragraphs>361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Microsoft Sans Serif</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sagar chougule</dc:creator>
  <cp:keywords/>
  <dc:description>generated using python-pptx</dc:description>
  <cp:lastModifiedBy>sagar chougule</cp:lastModifiedBy>
  <cp:revision>3</cp:revision>
  <dcterms:created xsi:type="dcterms:W3CDTF">2013-01-27T09:14:16Z</dcterms:created>
  <dcterms:modified xsi:type="dcterms:W3CDTF">2026-08-26T09:44:57Z</dcterms:modified>
  <cp:category/>
</cp:coreProperties>
</file>